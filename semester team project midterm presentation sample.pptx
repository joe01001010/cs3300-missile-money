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1" r:id="rId2"/>
  </p:sldMasterIdLst>
  <p:notesMasterIdLst>
    <p:notesMasterId r:id="rId20"/>
  </p:notesMasterIdLst>
  <p:sldIdLst>
    <p:sldId id="256" r:id="rId3"/>
    <p:sldId id="257" r:id="rId4"/>
    <p:sldId id="258" r:id="rId5"/>
    <p:sldId id="259" r:id="rId6"/>
    <p:sldId id="260" r:id="rId7"/>
    <p:sldId id="262" r:id="rId8"/>
    <p:sldId id="292" r:id="rId9"/>
    <p:sldId id="366" r:id="rId10"/>
    <p:sldId id="367" r:id="rId11"/>
    <p:sldId id="369" r:id="rId12"/>
    <p:sldId id="368" r:id="rId13"/>
    <p:sldId id="261" r:id="rId14"/>
    <p:sldId id="351" r:id="rId15"/>
    <p:sldId id="370" r:id="rId16"/>
    <p:sldId id="352" r:id="rId17"/>
    <p:sldId id="353" r:id="rId18"/>
    <p:sldId id="354" r:id="rId19"/>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78" autoAdjust="0"/>
    <p:restoredTop sz="94660"/>
  </p:normalViewPr>
  <p:slideViewPr>
    <p:cSldViewPr snapToGrid="0">
      <p:cViewPr varScale="1">
        <p:scale>
          <a:sx n="82" d="100"/>
          <a:sy n="82" d="100"/>
        </p:scale>
        <p:origin x="56" y="159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3D3DC366-A937-40C2-AE7E-E9E9E8CDF779}" type="datetimeFigureOut">
              <a:rPr lang="en-US" smtClean="0"/>
              <a:t>9/21/2025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BCD7EB61-CA1E-4260-A26E-31DFF29B1F94}" type="slidenum">
              <a:rPr lang="en-US" smtClean="0"/>
              <a:t>‹#›</a:t>
            </a:fld>
            <a:endParaRPr lang="en-US"/>
          </a:p>
        </p:txBody>
      </p:sp>
    </p:spTree>
    <p:extLst>
      <p:ext uri="{BB962C8B-B14F-4D97-AF65-F5344CB8AC3E}">
        <p14:creationId xmlns:p14="http://schemas.microsoft.com/office/powerpoint/2010/main" val="6541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417FA-33FA-BBA7-22F3-5D1343BB8BE2}"/>
              </a:ext>
            </a:extLst>
          </p:cNvPr>
          <p:cNvSpPr>
            <a:spLocks noGrp="1"/>
          </p:cNvSpPr>
          <p:nvPr>
            <p:ph type="title"/>
          </p:nvPr>
        </p:nvSpPr>
        <p:spPr>
          <a:xfrm>
            <a:off x="1107583" y="365125"/>
            <a:ext cx="10032642" cy="1325563"/>
          </a:xfrm>
        </p:spPr>
        <p:txBody>
          <a:bodyPr>
            <a:normAutofit/>
          </a:bodyPr>
          <a:lstStyle>
            <a:lvl1pPr>
              <a:defRPr sz="3600">
                <a:latin typeface="Arial Black" panose="020B0A040201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C791C8DE-32AD-1365-E062-8CDFEB9F2D93}"/>
              </a:ext>
            </a:extLst>
          </p:cNvPr>
          <p:cNvSpPr>
            <a:spLocks noGrp="1"/>
          </p:cNvSpPr>
          <p:nvPr>
            <p:ph idx="1"/>
          </p:nvPr>
        </p:nvSpPr>
        <p:spPr>
          <a:xfrm>
            <a:off x="1107583" y="1825625"/>
            <a:ext cx="10032642" cy="4351338"/>
          </a:xfrm>
        </p:spPr>
        <p:txBody>
          <a:bodyPr/>
          <a:lstStyle>
            <a:lvl1pPr marL="228600" indent="-228600">
              <a:buFont typeface="Wingdings" panose="05000000000000000000" pitchFamily="2" charset="2"/>
              <a:buChar char="Ø"/>
              <a:defRPr sz="2000">
                <a:latin typeface="Arial Black" panose="020B0A04020102020204" pitchFamily="34" charset="0"/>
              </a:defRPr>
            </a:lvl1pPr>
            <a:lvl2pPr marL="685800" indent="-228600">
              <a:buFont typeface="Wingdings" panose="05000000000000000000" pitchFamily="2" charset="2"/>
              <a:buChar char="Ø"/>
              <a:defRPr sz="1800">
                <a:latin typeface="Arial Black" panose="020B0A04020102020204" pitchFamily="34" charset="0"/>
              </a:defRPr>
            </a:lvl2pPr>
            <a:lvl3pPr marL="1143000" indent="-228600">
              <a:buFont typeface="Wingdings" panose="05000000000000000000" pitchFamily="2" charset="2"/>
              <a:buChar char="Ø"/>
              <a:defRPr sz="1600">
                <a:latin typeface="Arial Black" panose="020B0A04020102020204" pitchFamily="34" charset="0"/>
              </a:defRPr>
            </a:lvl3pPr>
            <a:lvl4pPr marL="1600200" indent="-228600">
              <a:buFont typeface="Wingdings" panose="05000000000000000000" pitchFamily="2" charset="2"/>
              <a:buChar char="Ø"/>
              <a:defRPr sz="1600">
                <a:latin typeface="Arial Black" panose="020B0A04020102020204" pitchFamily="34" charset="0"/>
              </a:defRPr>
            </a:lvl4pPr>
            <a:lvl5pPr marL="2057400" indent="-228600">
              <a:buFont typeface="Wingdings" panose="05000000000000000000" pitchFamily="2" charset="2"/>
              <a:buChar char="Ø"/>
              <a:defRPr sz="1600">
                <a:latin typeface="Arial Black" panose="020B0A040201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EF0637D-CE49-94D7-0970-9F85C677D8E4}"/>
              </a:ext>
            </a:extLst>
          </p:cNvPr>
          <p:cNvSpPr>
            <a:spLocks noGrp="1"/>
          </p:cNvSpPr>
          <p:nvPr>
            <p:ph type="dt" sz="half" idx="10"/>
          </p:nvPr>
        </p:nvSpPr>
        <p:spPr/>
        <p:txBody>
          <a:bodyPr/>
          <a:lstStyle>
            <a:lvl1pPr>
              <a:defRPr sz="1400">
                <a:latin typeface="Arial Black" panose="020B0A04020102020204" pitchFamily="34" charset="0"/>
              </a:defRPr>
            </a:lvl1pPr>
          </a:lstStyle>
          <a:p>
            <a:r>
              <a:rPr lang="en-US"/>
              <a:t>&lt;date&gt;</a:t>
            </a:r>
          </a:p>
        </p:txBody>
      </p:sp>
      <p:sp>
        <p:nvSpPr>
          <p:cNvPr id="5" name="Footer Placeholder 4">
            <a:extLst>
              <a:ext uri="{FF2B5EF4-FFF2-40B4-BE49-F238E27FC236}">
                <a16:creationId xmlns:a16="http://schemas.microsoft.com/office/drawing/2014/main" id="{CB75138B-30E5-9F47-EFD5-184E02753C49}"/>
              </a:ext>
            </a:extLst>
          </p:cNvPr>
          <p:cNvSpPr>
            <a:spLocks noGrp="1"/>
          </p:cNvSpPr>
          <p:nvPr>
            <p:ph type="ftr" sz="quarter" idx="11"/>
          </p:nvPr>
        </p:nvSpPr>
        <p:spPr>
          <a:xfrm>
            <a:off x="1107583" y="3175"/>
            <a:ext cx="10032642" cy="365125"/>
          </a:xfrm>
        </p:spPr>
        <p:txBody>
          <a:bodyPr/>
          <a:lstStyle>
            <a:lvl1pPr>
              <a:defRPr sz="1400">
                <a:latin typeface="Arial Black" panose="020B0A04020102020204" pitchFamily="34" charset="0"/>
              </a:defRPr>
            </a:lvl1pPr>
          </a:lstStyle>
          <a:p>
            <a:r>
              <a:rPr lang="en-US"/>
              <a:t>K. Stempeck</a:t>
            </a:r>
          </a:p>
        </p:txBody>
      </p:sp>
      <p:sp>
        <p:nvSpPr>
          <p:cNvPr id="6" name="Slide Number Placeholder 5">
            <a:extLst>
              <a:ext uri="{FF2B5EF4-FFF2-40B4-BE49-F238E27FC236}">
                <a16:creationId xmlns:a16="http://schemas.microsoft.com/office/drawing/2014/main" id="{23E46B28-29AD-B6A4-1C6F-C95FB585F044}"/>
              </a:ext>
            </a:extLst>
          </p:cNvPr>
          <p:cNvSpPr>
            <a:spLocks noGrp="1"/>
          </p:cNvSpPr>
          <p:nvPr>
            <p:ph type="sldNum" sz="quarter" idx="12"/>
          </p:nvPr>
        </p:nvSpPr>
        <p:spPr/>
        <p:txBody>
          <a:bodyPr/>
          <a:lstStyle>
            <a:lvl1pPr>
              <a:defRPr sz="1400">
                <a:latin typeface="Arial Black" panose="020B0A04020102020204" pitchFamily="34" charset="0"/>
              </a:defRPr>
            </a:lvl1pPr>
          </a:lstStyle>
          <a:p>
            <a:fld id="{EB2EDA97-367B-4B91-ABE6-82E571A82057}" type="slidenum">
              <a:rPr lang="en-US" smtClean="0"/>
              <a:pPr/>
              <a:t>‹#›</a:t>
            </a:fld>
            <a:endParaRPr lang="en-US"/>
          </a:p>
        </p:txBody>
      </p:sp>
    </p:spTree>
    <p:extLst>
      <p:ext uri="{BB962C8B-B14F-4D97-AF65-F5344CB8AC3E}">
        <p14:creationId xmlns:p14="http://schemas.microsoft.com/office/powerpoint/2010/main" val="3368202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F1740-4FB3-C109-F5E5-1C81F6EA71FD}"/>
              </a:ext>
            </a:extLst>
          </p:cNvPr>
          <p:cNvSpPr>
            <a:spLocks noGrp="1"/>
          </p:cNvSpPr>
          <p:nvPr>
            <p:ph type="ctrTitle"/>
          </p:nvPr>
        </p:nvSpPr>
        <p:spPr>
          <a:xfrm>
            <a:off x="1056068" y="406400"/>
            <a:ext cx="10071277" cy="3611808"/>
          </a:xfrm>
        </p:spPr>
        <p:txBody>
          <a:bodyPr anchor="t"/>
          <a:lstStyle>
            <a:lvl1pPr algn="l">
              <a:defRPr sz="4400">
                <a:latin typeface="Arial Black" panose="020B0A040201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FD709750-2198-ACF3-DFD3-B87F5098BABA}"/>
              </a:ext>
            </a:extLst>
          </p:cNvPr>
          <p:cNvSpPr>
            <a:spLocks noGrp="1"/>
          </p:cNvSpPr>
          <p:nvPr>
            <p:ph type="subTitle" idx="1"/>
          </p:nvPr>
        </p:nvSpPr>
        <p:spPr>
          <a:xfrm>
            <a:off x="1056067" y="4555074"/>
            <a:ext cx="10071277" cy="1655762"/>
          </a:xfrm>
        </p:spPr>
        <p:txBody>
          <a:bodyPr>
            <a:normAutofit/>
          </a:bodyPr>
          <a:lstStyle>
            <a:lvl1pPr marL="0" indent="0" algn="l">
              <a:buNone/>
              <a:defRPr sz="2000">
                <a:latin typeface="Arial Black" panose="020B0A04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799807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r>
              <a:rPr lang="en-US"/>
              <a:t>&lt;date&gt;</a:t>
            </a:r>
            <a:endParaRPr lang="en-US" dirty="0"/>
          </a:p>
        </p:txBody>
      </p:sp>
      <p:sp>
        <p:nvSpPr>
          <p:cNvPr id="5" name="Footer Placeholder 4"/>
          <p:cNvSpPr>
            <a:spLocks noGrp="1"/>
          </p:cNvSpPr>
          <p:nvPr>
            <p:ph type="ftr" sz="quarter" idx="11"/>
          </p:nvPr>
        </p:nvSpPr>
        <p:spPr>
          <a:xfrm>
            <a:off x="1876424" y="5410201"/>
            <a:ext cx="5124886" cy="365125"/>
          </a:xfrm>
        </p:spPr>
        <p:txBody>
          <a:bodyPr/>
          <a:lstStyle/>
          <a:p>
            <a:r>
              <a:rPr lang="en-US"/>
              <a:t>K. Stempeck</a:t>
            </a:r>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959856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&lt;date&gt;</a:t>
            </a:r>
          </a:p>
        </p:txBody>
      </p:sp>
      <p:sp>
        <p:nvSpPr>
          <p:cNvPr id="5" name="Footer Placeholder 4"/>
          <p:cNvSpPr>
            <a:spLocks noGrp="1"/>
          </p:cNvSpPr>
          <p:nvPr>
            <p:ph type="ftr" sz="quarter" idx="11"/>
          </p:nvPr>
        </p:nvSpPr>
        <p:spPr/>
        <p:txBody>
          <a:bodyPr/>
          <a:lstStyle/>
          <a:p>
            <a:r>
              <a:rPr lang="en-US"/>
              <a:t>K. Stempeck</a:t>
            </a:r>
          </a:p>
        </p:txBody>
      </p:sp>
      <p:sp>
        <p:nvSpPr>
          <p:cNvPr id="6" name="Slide Number Placeholder 5"/>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2508730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&lt;date&gt;</a:t>
            </a:r>
          </a:p>
        </p:txBody>
      </p:sp>
      <p:sp>
        <p:nvSpPr>
          <p:cNvPr id="5" name="Footer Placeholder 4"/>
          <p:cNvSpPr>
            <a:spLocks noGrp="1"/>
          </p:cNvSpPr>
          <p:nvPr>
            <p:ph type="ftr" sz="quarter" idx="11"/>
          </p:nvPr>
        </p:nvSpPr>
        <p:spPr/>
        <p:txBody>
          <a:bodyPr/>
          <a:lstStyle/>
          <a:p>
            <a:r>
              <a:rPr lang="en-US"/>
              <a:t>K. Stempeck</a:t>
            </a:r>
          </a:p>
        </p:txBody>
      </p:sp>
      <p:sp>
        <p:nvSpPr>
          <p:cNvPr id="6" name="Slide Number Placeholder 5"/>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2535236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&lt;date&gt;</a:t>
            </a:r>
          </a:p>
        </p:txBody>
      </p:sp>
      <p:sp>
        <p:nvSpPr>
          <p:cNvPr id="6" name="Footer Placeholder 5"/>
          <p:cNvSpPr>
            <a:spLocks noGrp="1"/>
          </p:cNvSpPr>
          <p:nvPr>
            <p:ph type="ftr" sz="quarter" idx="11"/>
          </p:nvPr>
        </p:nvSpPr>
        <p:spPr/>
        <p:txBody>
          <a:bodyPr/>
          <a:lstStyle/>
          <a:p>
            <a:r>
              <a:rPr lang="en-US"/>
              <a:t>K. Stempeck</a:t>
            </a:r>
          </a:p>
        </p:txBody>
      </p:sp>
      <p:sp>
        <p:nvSpPr>
          <p:cNvPr id="7" name="Slide Number Placeholder 6"/>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896820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&lt;date&gt;</a:t>
            </a:r>
          </a:p>
        </p:txBody>
      </p:sp>
      <p:sp>
        <p:nvSpPr>
          <p:cNvPr id="8" name="Footer Placeholder 7"/>
          <p:cNvSpPr>
            <a:spLocks noGrp="1"/>
          </p:cNvSpPr>
          <p:nvPr>
            <p:ph type="ftr" sz="quarter" idx="11"/>
          </p:nvPr>
        </p:nvSpPr>
        <p:spPr/>
        <p:txBody>
          <a:bodyPr/>
          <a:lstStyle/>
          <a:p>
            <a:r>
              <a:rPr lang="en-US"/>
              <a:t>K. Stempeck</a:t>
            </a:r>
          </a:p>
        </p:txBody>
      </p:sp>
      <p:sp>
        <p:nvSpPr>
          <p:cNvPr id="9" name="Slide Number Placeholder 8"/>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355871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&lt;date&gt;</a:t>
            </a:r>
          </a:p>
        </p:txBody>
      </p:sp>
      <p:sp>
        <p:nvSpPr>
          <p:cNvPr id="4" name="Footer Placeholder 3"/>
          <p:cNvSpPr>
            <a:spLocks noGrp="1"/>
          </p:cNvSpPr>
          <p:nvPr>
            <p:ph type="ftr" sz="quarter" idx="11"/>
          </p:nvPr>
        </p:nvSpPr>
        <p:spPr/>
        <p:txBody>
          <a:bodyPr/>
          <a:lstStyle/>
          <a:p>
            <a:r>
              <a:rPr lang="en-US"/>
              <a:t>K. Stempeck</a:t>
            </a:r>
          </a:p>
        </p:txBody>
      </p:sp>
      <p:sp>
        <p:nvSpPr>
          <p:cNvPr id="5" name="Slide Number Placeholder 4"/>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3987088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&lt;date&gt;</a:t>
            </a:r>
          </a:p>
        </p:txBody>
      </p:sp>
      <p:sp>
        <p:nvSpPr>
          <p:cNvPr id="3" name="Footer Placeholder 2"/>
          <p:cNvSpPr>
            <a:spLocks noGrp="1"/>
          </p:cNvSpPr>
          <p:nvPr>
            <p:ph type="ftr" sz="quarter" idx="11"/>
          </p:nvPr>
        </p:nvSpPr>
        <p:spPr/>
        <p:txBody>
          <a:bodyPr/>
          <a:lstStyle/>
          <a:p>
            <a:r>
              <a:rPr lang="en-US"/>
              <a:t>K. Stempeck</a:t>
            </a:r>
          </a:p>
        </p:txBody>
      </p:sp>
      <p:sp>
        <p:nvSpPr>
          <p:cNvPr id="4" name="Slide Number Placeholder 3"/>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2852459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&lt;date&gt;</a:t>
            </a:r>
          </a:p>
        </p:txBody>
      </p:sp>
      <p:sp>
        <p:nvSpPr>
          <p:cNvPr id="6" name="Footer Placeholder 5"/>
          <p:cNvSpPr>
            <a:spLocks noGrp="1"/>
          </p:cNvSpPr>
          <p:nvPr>
            <p:ph type="ftr" sz="quarter" idx="11"/>
          </p:nvPr>
        </p:nvSpPr>
        <p:spPr/>
        <p:txBody>
          <a:bodyPr/>
          <a:lstStyle/>
          <a:p>
            <a:r>
              <a:rPr lang="en-US"/>
              <a:t>K. Stempeck</a:t>
            </a:r>
          </a:p>
        </p:txBody>
      </p:sp>
      <p:sp>
        <p:nvSpPr>
          <p:cNvPr id="7" name="Slide Number Placeholder 6"/>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1784564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&lt;date&gt;</a:t>
            </a:r>
          </a:p>
        </p:txBody>
      </p:sp>
      <p:sp>
        <p:nvSpPr>
          <p:cNvPr id="6" name="Footer Placeholder 5"/>
          <p:cNvSpPr>
            <a:spLocks noGrp="1"/>
          </p:cNvSpPr>
          <p:nvPr>
            <p:ph type="ftr" sz="quarter" idx="11"/>
          </p:nvPr>
        </p:nvSpPr>
        <p:spPr/>
        <p:txBody>
          <a:bodyPr/>
          <a:lstStyle/>
          <a:p>
            <a:r>
              <a:rPr lang="en-US"/>
              <a:t>K. Stempeck</a:t>
            </a:r>
          </a:p>
        </p:txBody>
      </p:sp>
      <p:sp>
        <p:nvSpPr>
          <p:cNvPr id="7" name="Slide Number Placeholder 6"/>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26181671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&lt;date&gt;</a:t>
            </a:r>
          </a:p>
        </p:txBody>
      </p:sp>
      <p:sp>
        <p:nvSpPr>
          <p:cNvPr id="6" name="Footer Placeholder 5"/>
          <p:cNvSpPr>
            <a:spLocks noGrp="1"/>
          </p:cNvSpPr>
          <p:nvPr>
            <p:ph type="ftr" sz="quarter" idx="11"/>
          </p:nvPr>
        </p:nvSpPr>
        <p:spPr/>
        <p:txBody>
          <a:bodyPr/>
          <a:lstStyle/>
          <a:p>
            <a:r>
              <a:rPr lang="en-US"/>
              <a:t>K. Stempeck</a:t>
            </a:r>
          </a:p>
        </p:txBody>
      </p:sp>
      <p:sp>
        <p:nvSpPr>
          <p:cNvPr id="7" name="Slide Number Placeholder 6"/>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15777096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&lt;date&gt;</a:t>
            </a:r>
          </a:p>
        </p:txBody>
      </p:sp>
      <p:sp>
        <p:nvSpPr>
          <p:cNvPr id="6" name="Footer Placeholder 5"/>
          <p:cNvSpPr>
            <a:spLocks noGrp="1"/>
          </p:cNvSpPr>
          <p:nvPr>
            <p:ph type="ftr" sz="quarter" idx="11"/>
          </p:nvPr>
        </p:nvSpPr>
        <p:spPr/>
        <p:txBody>
          <a:bodyPr/>
          <a:lstStyle/>
          <a:p>
            <a:r>
              <a:rPr lang="en-US"/>
              <a:t>K. Stempeck</a:t>
            </a:r>
          </a:p>
        </p:txBody>
      </p:sp>
      <p:sp>
        <p:nvSpPr>
          <p:cNvPr id="7" name="Slide Number Placeholder 6"/>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23814791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&lt;date&gt;</a:t>
            </a:r>
          </a:p>
        </p:txBody>
      </p:sp>
      <p:sp>
        <p:nvSpPr>
          <p:cNvPr id="6" name="Footer Placeholder 5"/>
          <p:cNvSpPr>
            <a:spLocks noGrp="1"/>
          </p:cNvSpPr>
          <p:nvPr>
            <p:ph type="ftr" sz="quarter" idx="11"/>
          </p:nvPr>
        </p:nvSpPr>
        <p:spPr/>
        <p:txBody>
          <a:bodyPr/>
          <a:lstStyle/>
          <a:p>
            <a:r>
              <a:rPr lang="en-US"/>
              <a:t>K. Stempeck</a:t>
            </a:r>
          </a:p>
        </p:txBody>
      </p:sp>
      <p:sp>
        <p:nvSpPr>
          <p:cNvPr id="7" name="Slide Number Placeholder 6"/>
          <p:cNvSpPr>
            <a:spLocks noGrp="1"/>
          </p:cNvSpPr>
          <p:nvPr>
            <p:ph type="sldNum" sz="quarter" idx="12"/>
          </p:nvPr>
        </p:nvSpPr>
        <p:spPr/>
        <p:txBody>
          <a:bodyPr/>
          <a:lstStyle/>
          <a:p>
            <a:fld id="{EB2EDA97-367B-4B91-ABE6-82E571A82057}" type="slidenum">
              <a:rPr lang="en-US" smtClean="0"/>
              <a:pPr/>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6391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&lt;date&gt;</a:t>
            </a:r>
          </a:p>
        </p:txBody>
      </p:sp>
      <p:sp>
        <p:nvSpPr>
          <p:cNvPr id="6" name="Footer Placeholder 5"/>
          <p:cNvSpPr>
            <a:spLocks noGrp="1"/>
          </p:cNvSpPr>
          <p:nvPr>
            <p:ph type="ftr" sz="quarter" idx="11"/>
          </p:nvPr>
        </p:nvSpPr>
        <p:spPr/>
        <p:txBody>
          <a:bodyPr/>
          <a:lstStyle/>
          <a:p>
            <a:r>
              <a:rPr lang="en-US"/>
              <a:t>K. Stempeck</a:t>
            </a:r>
          </a:p>
        </p:txBody>
      </p:sp>
      <p:sp>
        <p:nvSpPr>
          <p:cNvPr id="7" name="Slide Number Placeholder 6"/>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33868944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r>
              <a:rPr lang="en-US"/>
              <a:t>&lt;date&gt;</a:t>
            </a:r>
          </a:p>
        </p:txBody>
      </p:sp>
      <p:sp>
        <p:nvSpPr>
          <p:cNvPr id="4" name="Footer Placeholder 3"/>
          <p:cNvSpPr>
            <a:spLocks noGrp="1"/>
          </p:cNvSpPr>
          <p:nvPr>
            <p:ph type="ftr" sz="quarter" idx="11"/>
          </p:nvPr>
        </p:nvSpPr>
        <p:spPr/>
        <p:txBody>
          <a:bodyPr/>
          <a:lstStyle/>
          <a:p>
            <a:r>
              <a:rPr lang="en-US"/>
              <a:t>K. Stempeck</a:t>
            </a:r>
          </a:p>
        </p:txBody>
      </p:sp>
      <p:sp>
        <p:nvSpPr>
          <p:cNvPr id="5" name="Slide Number Placeholder 4"/>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30572300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r>
              <a:rPr lang="en-US"/>
              <a:t>&lt;date&gt;</a:t>
            </a:r>
          </a:p>
        </p:txBody>
      </p:sp>
      <p:sp>
        <p:nvSpPr>
          <p:cNvPr id="4" name="Footer Placeholder 3"/>
          <p:cNvSpPr>
            <a:spLocks noGrp="1"/>
          </p:cNvSpPr>
          <p:nvPr>
            <p:ph type="ftr" sz="quarter" idx="11"/>
          </p:nvPr>
        </p:nvSpPr>
        <p:spPr/>
        <p:txBody>
          <a:bodyPr/>
          <a:lstStyle/>
          <a:p>
            <a:r>
              <a:rPr lang="en-US"/>
              <a:t>K. Stempeck</a:t>
            </a:r>
          </a:p>
        </p:txBody>
      </p:sp>
      <p:sp>
        <p:nvSpPr>
          <p:cNvPr id="5" name="Slide Number Placeholder 4"/>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29916319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&lt;date&gt;</a:t>
            </a:r>
          </a:p>
        </p:txBody>
      </p:sp>
      <p:sp>
        <p:nvSpPr>
          <p:cNvPr id="5" name="Footer Placeholder 4"/>
          <p:cNvSpPr>
            <a:spLocks noGrp="1"/>
          </p:cNvSpPr>
          <p:nvPr>
            <p:ph type="ftr" sz="quarter" idx="11"/>
          </p:nvPr>
        </p:nvSpPr>
        <p:spPr/>
        <p:txBody>
          <a:bodyPr/>
          <a:lstStyle/>
          <a:p>
            <a:r>
              <a:rPr lang="en-US"/>
              <a:t>K. Stempeck</a:t>
            </a:r>
          </a:p>
        </p:txBody>
      </p:sp>
      <p:sp>
        <p:nvSpPr>
          <p:cNvPr id="6" name="Slide Number Placeholder 5"/>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7640790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&lt;date&gt;</a:t>
            </a:r>
          </a:p>
        </p:txBody>
      </p:sp>
      <p:sp>
        <p:nvSpPr>
          <p:cNvPr id="5" name="Footer Placeholder 4"/>
          <p:cNvSpPr>
            <a:spLocks noGrp="1"/>
          </p:cNvSpPr>
          <p:nvPr>
            <p:ph type="ftr" sz="quarter" idx="11"/>
          </p:nvPr>
        </p:nvSpPr>
        <p:spPr/>
        <p:txBody>
          <a:bodyPr/>
          <a:lstStyle/>
          <a:p>
            <a:r>
              <a:rPr lang="en-US"/>
              <a:t>K. Stempeck</a:t>
            </a:r>
          </a:p>
        </p:txBody>
      </p:sp>
      <p:sp>
        <p:nvSpPr>
          <p:cNvPr id="6" name="Slide Number Placeholder 5"/>
          <p:cNvSpPr>
            <a:spLocks noGrp="1"/>
          </p:cNvSpPr>
          <p:nvPr>
            <p:ph type="sldNum" sz="quarter" idx="12"/>
          </p:nvPr>
        </p:nvSpPr>
        <p:spPr/>
        <p:txBody>
          <a:bodyPr/>
          <a:lstStyle/>
          <a:p>
            <a:fld id="{EB2EDA97-367B-4B91-ABE6-82E571A82057}" type="slidenum">
              <a:rPr lang="en-US" smtClean="0"/>
              <a:pPr/>
              <a:t>‹#›</a:t>
            </a:fld>
            <a:endParaRPr lang="en-US"/>
          </a:p>
        </p:txBody>
      </p:sp>
    </p:spTree>
    <p:extLst>
      <p:ext uri="{BB962C8B-B14F-4D97-AF65-F5344CB8AC3E}">
        <p14:creationId xmlns:p14="http://schemas.microsoft.com/office/powerpoint/2010/main" val="2337384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image" Target="../media/image2.png"/><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A84DBB-23A1-8112-AE39-9F89D934EB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1D30262-D96E-E9C9-D7D3-39AA832A66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3"/>
            <a:r>
              <a:rPr lang="en-US" dirty="0"/>
              <a:t>Fifth level</a:t>
            </a:r>
          </a:p>
        </p:txBody>
      </p:sp>
      <p:sp>
        <p:nvSpPr>
          <p:cNvPr id="4" name="Date Placeholder 3">
            <a:extLst>
              <a:ext uri="{FF2B5EF4-FFF2-40B4-BE49-F238E27FC236}">
                <a16:creationId xmlns:a16="http://schemas.microsoft.com/office/drawing/2014/main" id="{D6E062C5-FA6F-6291-19FB-6086862B6B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400">
                <a:solidFill>
                  <a:schemeClr val="tx1">
                    <a:tint val="82000"/>
                  </a:schemeClr>
                </a:solidFill>
                <a:latin typeface="Arial Black" panose="020B0A04020102020204" pitchFamily="34" charset="0"/>
              </a:defRPr>
            </a:lvl1pPr>
          </a:lstStyle>
          <a:p>
            <a:r>
              <a:rPr lang="en-US"/>
              <a:t>&lt;date&gt;</a:t>
            </a:r>
          </a:p>
        </p:txBody>
      </p:sp>
      <p:sp>
        <p:nvSpPr>
          <p:cNvPr id="5" name="Footer Placeholder 4">
            <a:extLst>
              <a:ext uri="{FF2B5EF4-FFF2-40B4-BE49-F238E27FC236}">
                <a16:creationId xmlns:a16="http://schemas.microsoft.com/office/drawing/2014/main" id="{C934FC34-2A72-98A5-8694-69EE2DB3B986}"/>
              </a:ext>
            </a:extLst>
          </p:cNvPr>
          <p:cNvSpPr>
            <a:spLocks noGrp="1"/>
          </p:cNvSpPr>
          <p:nvPr>
            <p:ph type="ftr" sz="quarter" idx="3"/>
          </p:nvPr>
        </p:nvSpPr>
        <p:spPr>
          <a:xfrm>
            <a:off x="838199" y="0"/>
            <a:ext cx="10515599" cy="365125"/>
          </a:xfrm>
          <a:prstGeom prst="rect">
            <a:avLst/>
          </a:prstGeom>
        </p:spPr>
        <p:txBody>
          <a:bodyPr vert="horz" lIns="91440" tIns="45720" rIns="91440" bIns="45720" rtlCol="0" anchor="ctr"/>
          <a:lstStyle>
            <a:lvl1pPr algn="ctr">
              <a:defRPr sz="1400">
                <a:solidFill>
                  <a:schemeClr val="tx1">
                    <a:tint val="82000"/>
                  </a:schemeClr>
                </a:solidFill>
                <a:latin typeface="Arial Black" panose="020B0A04020102020204" pitchFamily="34" charset="0"/>
              </a:defRPr>
            </a:lvl1pPr>
          </a:lstStyle>
          <a:p>
            <a:r>
              <a:rPr lang="en-US"/>
              <a:t>K. Stempeck</a:t>
            </a:r>
          </a:p>
        </p:txBody>
      </p:sp>
      <p:sp>
        <p:nvSpPr>
          <p:cNvPr id="6" name="Slide Number Placeholder 5">
            <a:extLst>
              <a:ext uri="{FF2B5EF4-FFF2-40B4-BE49-F238E27FC236}">
                <a16:creationId xmlns:a16="http://schemas.microsoft.com/office/drawing/2014/main" id="{9C1C8381-4C05-6BF7-EC32-E14A1E29D4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tint val="82000"/>
                  </a:schemeClr>
                </a:solidFill>
                <a:latin typeface="Arial Black" panose="020B0A04020102020204" pitchFamily="34" charset="0"/>
              </a:defRPr>
            </a:lvl1pPr>
          </a:lstStyle>
          <a:p>
            <a:fld id="{EB2EDA97-367B-4B91-ABE6-82E571A82057}" type="slidenum">
              <a:rPr lang="en-US" smtClean="0"/>
              <a:pPr/>
              <a:t>‹#›</a:t>
            </a:fld>
            <a:endParaRPr lang="en-US"/>
          </a:p>
        </p:txBody>
      </p:sp>
    </p:spTree>
    <p:extLst>
      <p:ext uri="{BB962C8B-B14F-4D97-AF65-F5344CB8AC3E}">
        <p14:creationId xmlns:p14="http://schemas.microsoft.com/office/powerpoint/2010/main" val="644345304"/>
      </p:ext>
    </p:extLst>
  </p:cSld>
  <p:clrMap bg1="lt1" tx1="dk1" bg2="lt2" tx2="dk2" accent1="accent1" accent2="accent2" accent3="accent3" accent4="accent4" accent5="accent5" accent6="accent6" hlink="hlink" folHlink="folHlink"/>
  <p:sldLayoutIdLst>
    <p:sldLayoutId id="2147483650" r:id="rId1"/>
    <p:sldLayoutId id="2147483649" r:id="rId2"/>
  </p:sldLayoutIdLst>
  <p:hf hdr="0" ftr="0"/>
  <p:txStyles>
    <p:titleStyle>
      <a:lvl1pPr algn="l" defTabSz="914400" rtl="0" eaLnBrk="1" latinLnBrk="0" hangingPunct="1">
        <a:lnSpc>
          <a:spcPct val="90000"/>
        </a:lnSpc>
        <a:spcBef>
          <a:spcPct val="0"/>
        </a:spcBef>
        <a:buNone/>
        <a:defRPr sz="3600" kern="1200">
          <a:solidFill>
            <a:schemeClr val="tx1"/>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Ø"/>
        <a:defRPr sz="2000" kern="1200">
          <a:solidFill>
            <a:schemeClr val="tx1"/>
          </a:solidFill>
          <a:latin typeface="Arial Black" panose="020B0A04020102020204" pitchFamily="34" charset="0"/>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sz="1800" kern="1200">
          <a:solidFill>
            <a:schemeClr val="tx1"/>
          </a:solidFill>
          <a:latin typeface="Arial Black" panose="020B0A04020102020204" pitchFamily="34" charset="0"/>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sz="1600" kern="1200">
          <a:solidFill>
            <a:schemeClr val="tx1"/>
          </a:solidFill>
          <a:latin typeface="Arial Black" panose="020B0A04020102020204" pitchFamily="34" charset="0"/>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Ø"/>
        <a:defRPr sz="1600" kern="1200">
          <a:solidFill>
            <a:schemeClr val="tx1"/>
          </a:solidFill>
          <a:latin typeface="Arial Black" panose="020B0A04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r>
              <a:rPr lang="en-US"/>
              <a:t>&lt;date&gt;</a:t>
            </a:r>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r>
              <a:rPr lang="en-US"/>
              <a:t>K. Stempeck</a:t>
            </a:r>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B2EDA97-367B-4B91-ABE6-82E571A82057}" type="slidenum">
              <a:rPr lang="en-US" smtClean="0"/>
              <a:pPr/>
              <a:t>‹#›</a:t>
            </a:fld>
            <a:endParaRPr lang="en-US"/>
          </a:p>
        </p:txBody>
      </p:sp>
    </p:spTree>
    <p:extLst>
      <p:ext uri="{BB962C8B-B14F-4D97-AF65-F5344CB8AC3E}">
        <p14:creationId xmlns:p14="http://schemas.microsoft.com/office/powerpoint/2010/main" val="2273830528"/>
      </p:ext>
    </p:extLst>
  </p:cSld>
  <p:clrMap bg1="dk1" tx1="lt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Lst>
  <p:hf hdr="0" ftr="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3EDBD9-2D2E-CC49-B1B1-0201A5674DF5}"/>
              </a:ext>
            </a:extLst>
          </p:cNvPr>
          <p:cNvSpPr>
            <a:spLocks noGrp="1"/>
          </p:cNvSpPr>
          <p:nvPr>
            <p:ph type="ctrTitle"/>
          </p:nvPr>
        </p:nvSpPr>
        <p:spPr>
          <a:xfrm>
            <a:off x="1876424" y="621793"/>
            <a:ext cx="8791575" cy="3280506"/>
          </a:xfrm>
        </p:spPr>
        <p:txBody>
          <a:bodyPr anchor="t">
            <a:noAutofit/>
          </a:bodyPr>
          <a:lstStyle/>
          <a:p>
            <a:r>
              <a:rPr lang="en-US" sz="4000" dirty="0">
                <a:latin typeface="Arial Black" panose="020B0A04020102020204" pitchFamily="34" charset="0"/>
              </a:rPr>
              <a:t>CS 3300:</a:t>
            </a:r>
            <a:br>
              <a:rPr lang="en-US" sz="4000" dirty="0">
                <a:latin typeface="Arial Black" panose="020B0A04020102020204" pitchFamily="34" charset="0"/>
              </a:rPr>
            </a:br>
            <a:br>
              <a:rPr lang="en-US" sz="4000" dirty="0">
                <a:latin typeface="Arial Black" panose="020B0A04020102020204" pitchFamily="34" charset="0"/>
              </a:rPr>
            </a:br>
            <a:r>
              <a:rPr lang="en-US" sz="3200" dirty="0">
                <a:latin typeface="Arial Black" panose="020B0A04020102020204" pitchFamily="34" charset="0"/>
              </a:rPr>
              <a:t>Mid-term project presentation</a:t>
            </a:r>
            <a:br>
              <a:rPr lang="en-US" sz="4000" dirty="0">
                <a:latin typeface="Arial Black" panose="020B0A04020102020204" pitchFamily="34" charset="0"/>
              </a:rPr>
            </a:br>
            <a:r>
              <a:rPr lang="en-US" sz="2400" dirty="0">
                <a:latin typeface="Arial Black" panose="020B0A04020102020204" pitchFamily="34" charset="0"/>
              </a:rPr>
              <a:t>Software development Plan (SDP) briefing</a:t>
            </a:r>
          </a:p>
        </p:txBody>
      </p:sp>
      <p:sp>
        <p:nvSpPr>
          <p:cNvPr id="5" name="Subtitle 4">
            <a:extLst>
              <a:ext uri="{FF2B5EF4-FFF2-40B4-BE49-F238E27FC236}">
                <a16:creationId xmlns:a16="http://schemas.microsoft.com/office/drawing/2014/main" id="{9D650785-F0DB-507D-5B83-CC3EBA38CE61}"/>
              </a:ext>
            </a:extLst>
          </p:cNvPr>
          <p:cNvSpPr>
            <a:spLocks noGrp="1"/>
          </p:cNvSpPr>
          <p:nvPr>
            <p:ph type="subTitle" idx="1"/>
          </p:nvPr>
        </p:nvSpPr>
        <p:spPr>
          <a:xfrm>
            <a:off x="1876424" y="4023360"/>
            <a:ext cx="8791575" cy="1955664"/>
          </a:xfrm>
        </p:spPr>
        <p:txBody>
          <a:bodyPr>
            <a:noAutofit/>
          </a:bodyPr>
          <a:lstStyle/>
          <a:p>
            <a:pPr>
              <a:lnSpc>
                <a:spcPct val="100000"/>
              </a:lnSpc>
            </a:pPr>
            <a:r>
              <a:rPr lang="en-US" dirty="0">
                <a:latin typeface="Arial Black" panose="020B0A04020102020204" pitchFamily="34" charset="0"/>
              </a:rPr>
              <a:t>Project title: Missile Money</a:t>
            </a:r>
          </a:p>
          <a:p>
            <a:pPr>
              <a:lnSpc>
                <a:spcPct val="100000"/>
              </a:lnSpc>
            </a:pPr>
            <a:r>
              <a:rPr lang="en-US" dirty="0">
                <a:latin typeface="Arial Black" panose="020B0A04020102020204" pitchFamily="34" charset="0"/>
              </a:rPr>
              <a:t>Date:   07OCT2025</a:t>
            </a:r>
          </a:p>
          <a:p>
            <a:pPr>
              <a:lnSpc>
                <a:spcPct val="100000"/>
              </a:lnSpc>
            </a:pPr>
            <a:endParaRPr lang="en-US" dirty="0">
              <a:latin typeface="Arial Black" panose="020B0A04020102020204" pitchFamily="34" charset="0"/>
            </a:endParaRPr>
          </a:p>
          <a:p>
            <a:pPr>
              <a:lnSpc>
                <a:spcPct val="100000"/>
              </a:lnSpc>
            </a:pPr>
            <a:r>
              <a:rPr lang="en-US" dirty="0">
                <a:latin typeface="Arial Black" panose="020B0A04020102020204" pitchFamily="34" charset="0"/>
              </a:rPr>
              <a:t>DEPARTMENT OF COMPUTER SCIENCE</a:t>
            </a:r>
          </a:p>
          <a:p>
            <a:pPr>
              <a:lnSpc>
                <a:spcPct val="100000"/>
              </a:lnSpc>
            </a:pPr>
            <a:r>
              <a:rPr lang="en-US" dirty="0">
                <a:latin typeface="Arial Black" panose="020B0A04020102020204" pitchFamily="34" charset="0"/>
              </a:rPr>
              <a:t>UNIVERSITY OF COLORADO at COLORADO SPRINGS</a:t>
            </a:r>
          </a:p>
          <a:p>
            <a:endParaRPr lang="en-US" dirty="0">
              <a:latin typeface="Arial Black" panose="020B0A04020102020204" pitchFamily="34" charset="0"/>
            </a:endParaRPr>
          </a:p>
        </p:txBody>
      </p:sp>
      <p:sp>
        <p:nvSpPr>
          <p:cNvPr id="2" name="Rectangle: Rounded Corners 1">
            <a:extLst>
              <a:ext uri="{FF2B5EF4-FFF2-40B4-BE49-F238E27FC236}">
                <a16:creationId xmlns:a16="http://schemas.microsoft.com/office/drawing/2014/main" id="{ED44329B-FA19-5052-9540-920E54CD7169}"/>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Tree>
    <p:extLst>
      <p:ext uri="{BB962C8B-B14F-4D97-AF65-F5344CB8AC3E}">
        <p14:creationId xmlns:p14="http://schemas.microsoft.com/office/powerpoint/2010/main" val="4073058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55A1B-A26C-751D-0A4E-05F1811035A8}"/>
              </a:ext>
            </a:extLst>
          </p:cNvPr>
          <p:cNvSpPr>
            <a:spLocks noGrp="1"/>
          </p:cNvSpPr>
          <p:nvPr>
            <p:ph type="title"/>
          </p:nvPr>
        </p:nvSpPr>
        <p:spPr>
          <a:xfrm>
            <a:off x="1141413" y="618518"/>
            <a:ext cx="9905998" cy="974144"/>
          </a:xfrm>
        </p:spPr>
        <p:txBody>
          <a:bodyPr anchor="t">
            <a:normAutofit/>
          </a:bodyPr>
          <a:lstStyle/>
          <a:p>
            <a:pPr algn="ctr"/>
            <a:r>
              <a:rPr lang="en-US" sz="2800" dirty="0">
                <a:latin typeface="Arial Black" panose="020B0A04020102020204" pitchFamily="34" charset="0"/>
              </a:rPr>
              <a:t>team</a:t>
            </a:r>
          </a:p>
        </p:txBody>
      </p:sp>
      <p:sp>
        <p:nvSpPr>
          <p:cNvPr id="4" name="Date Placeholder 3">
            <a:extLst>
              <a:ext uri="{FF2B5EF4-FFF2-40B4-BE49-F238E27FC236}">
                <a16:creationId xmlns:a16="http://schemas.microsoft.com/office/drawing/2014/main" id="{CAF9944C-BA24-EACA-6D85-5E9AC449241B}"/>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45FDAC76-71C9-DA9E-C734-48F8009F382B}"/>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2</a:t>
            </a:fld>
            <a:endParaRPr lang="en-US" sz="1400">
              <a:latin typeface="Arial Black" panose="020B0A04020102020204" pitchFamily="34" charset="0"/>
            </a:endParaRPr>
          </a:p>
        </p:txBody>
      </p:sp>
      <p:sp>
        <p:nvSpPr>
          <p:cNvPr id="9" name="Content Placeholder 8">
            <a:extLst>
              <a:ext uri="{FF2B5EF4-FFF2-40B4-BE49-F238E27FC236}">
                <a16:creationId xmlns:a16="http://schemas.microsoft.com/office/drawing/2014/main" id="{EFD60E30-ACDE-3B15-3873-55969C6D0FFB}"/>
              </a:ext>
            </a:extLst>
          </p:cNvPr>
          <p:cNvSpPr txBox="1">
            <a:spLocks noGrp="1"/>
          </p:cNvSpPr>
          <p:nvPr>
            <p:ph idx="1"/>
          </p:nvPr>
        </p:nvSpPr>
        <p:spPr>
          <a:xfrm>
            <a:off x="1138704" y="1504169"/>
            <a:ext cx="9942096" cy="1938992"/>
          </a:xfrm>
          <a:prstGeom prst="rect">
            <a:avLst/>
          </a:prstGeom>
          <a:noFill/>
        </p:spPr>
        <p:txBody>
          <a:bodyPr wrap="square" rtlCol="0">
            <a:spAutoFit/>
          </a:bodyPr>
          <a:lstStyle/>
          <a:p>
            <a:pPr marL="342900" indent="-342900">
              <a:lnSpc>
                <a:spcPct val="100000"/>
              </a:lnSpc>
              <a:spcBef>
                <a:spcPts val="0"/>
              </a:spcBef>
              <a:spcAft>
                <a:spcPts val="600"/>
              </a:spcAft>
              <a:buFont typeface="Wingdings" panose="05000000000000000000" pitchFamily="2" charset="2"/>
              <a:buChar char="Ø"/>
            </a:pPr>
            <a:r>
              <a:rPr lang="en-US" sz="2000" dirty="0">
                <a:latin typeface="Arial Black" panose="020B0A04020102020204" pitchFamily="34" charset="0"/>
              </a:rPr>
              <a:t>Tester:</a:t>
            </a:r>
          </a:p>
          <a:p>
            <a:pPr marL="342900" indent="-342900">
              <a:lnSpc>
                <a:spcPct val="100000"/>
              </a:lnSpc>
              <a:spcBef>
                <a:spcPts val="0"/>
              </a:spcBef>
              <a:spcAft>
                <a:spcPts val="600"/>
              </a:spcAft>
              <a:buFont typeface="Wingdings" panose="05000000000000000000" pitchFamily="2" charset="2"/>
              <a:buChar char="Ø"/>
            </a:pPr>
            <a:r>
              <a:rPr lang="en-US" sz="2000" dirty="0">
                <a:latin typeface="Arial Black" panose="020B0A04020102020204" pitchFamily="34" charset="0"/>
              </a:rPr>
              <a:t>Front end developer:</a:t>
            </a:r>
          </a:p>
          <a:p>
            <a:pPr marL="342900" indent="-342900">
              <a:lnSpc>
                <a:spcPct val="100000"/>
              </a:lnSpc>
              <a:spcBef>
                <a:spcPts val="0"/>
              </a:spcBef>
              <a:spcAft>
                <a:spcPts val="600"/>
              </a:spcAft>
              <a:buFont typeface="Wingdings" panose="05000000000000000000" pitchFamily="2" charset="2"/>
              <a:buChar char="Ø"/>
            </a:pPr>
            <a:r>
              <a:rPr lang="en-US" sz="2000" dirty="0">
                <a:latin typeface="Arial Black" panose="020B0A04020102020204" pitchFamily="34" charset="0"/>
              </a:rPr>
              <a:t>Platform Engineer:</a:t>
            </a:r>
          </a:p>
          <a:p>
            <a:pPr marL="342900" indent="-342900">
              <a:lnSpc>
                <a:spcPct val="100000"/>
              </a:lnSpc>
              <a:spcBef>
                <a:spcPts val="0"/>
              </a:spcBef>
              <a:spcAft>
                <a:spcPts val="600"/>
              </a:spcAft>
              <a:buFont typeface="Wingdings" panose="05000000000000000000" pitchFamily="2" charset="2"/>
              <a:buChar char="Ø"/>
            </a:pPr>
            <a:r>
              <a:rPr lang="en-US" sz="2000" dirty="0">
                <a:latin typeface="Arial Black" panose="020B0A04020102020204" pitchFamily="34" charset="0"/>
              </a:rPr>
              <a:t>Scrum Master:</a:t>
            </a:r>
          </a:p>
          <a:p>
            <a:pPr marL="342900" indent="-342900">
              <a:lnSpc>
                <a:spcPct val="100000"/>
              </a:lnSpc>
              <a:spcBef>
                <a:spcPts val="0"/>
              </a:spcBef>
              <a:spcAft>
                <a:spcPts val="600"/>
              </a:spcAft>
              <a:buFont typeface="Wingdings" panose="05000000000000000000" pitchFamily="2" charset="2"/>
              <a:buChar char="Ø"/>
            </a:pPr>
            <a:r>
              <a:rPr lang="en-US" sz="2000" dirty="0">
                <a:latin typeface="Arial Black" panose="020B0A04020102020204" pitchFamily="34" charset="0"/>
              </a:rPr>
              <a:t>Back-end developer:</a:t>
            </a:r>
          </a:p>
        </p:txBody>
      </p:sp>
      <p:sp>
        <p:nvSpPr>
          <p:cNvPr id="3" name="Rectangle: Rounded Corners 2">
            <a:extLst>
              <a:ext uri="{FF2B5EF4-FFF2-40B4-BE49-F238E27FC236}">
                <a16:creationId xmlns:a16="http://schemas.microsoft.com/office/drawing/2014/main" id="{35BFD4E2-3F25-9E04-50CF-D1D2F13474F8}"/>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Tree>
    <p:extLst>
      <p:ext uri="{BB962C8B-B14F-4D97-AF65-F5344CB8AC3E}">
        <p14:creationId xmlns:p14="http://schemas.microsoft.com/office/powerpoint/2010/main" val="3536245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A640E-13FD-61B7-D230-76A7C81C4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A09B6-2902-B6A5-A9FC-DE6ECF1D185D}"/>
              </a:ext>
            </a:extLst>
          </p:cNvPr>
          <p:cNvSpPr>
            <a:spLocks noGrp="1"/>
          </p:cNvSpPr>
          <p:nvPr>
            <p:ph type="title"/>
          </p:nvPr>
        </p:nvSpPr>
        <p:spPr>
          <a:xfrm>
            <a:off x="1141413" y="618518"/>
            <a:ext cx="9905998" cy="974144"/>
          </a:xfrm>
        </p:spPr>
        <p:txBody>
          <a:bodyPr anchor="t">
            <a:normAutofit/>
          </a:bodyPr>
          <a:lstStyle/>
          <a:p>
            <a:pPr algn="ctr"/>
            <a:r>
              <a:rPr lang="en-US" sz="2800" dirty="0">
                <a:latin typeface="Arial Black" panose="020B0A04020102020204" pitchFamily="34" charset="0"/>
              </a:rPr>
              <a:t>Project introduction</a:t>
            </a:r>
          </a:p>
        </p:txBody>
      </p:sp>
      <p:sp>
        <p:nvSpPr>
          <p:cNvPr id="4" name="Date Placeholder 3">
            <a:extLst>
              <a:ext uri="{FF2B5EF4-FFF2-40B4-BE49-F238E27FC236}">
                <a16:creationId xmlns:a16="http://schemas.microsoft.com/office/drawing/2014/main" id="{E82FDB09-00D9-CCF3-0FD5-961BADCAA32C}"/>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BB52F0A1-6E97-2A44-EC72-B8D75BB71C87}"/>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3</a:t>
            </a:fld>
            <a:endParaRPr lang="en-US" sz="1400">
              <a:latin typeface="Arial Black" panose="020B0A04020102020204" pitchFamily="34" charset="0"/>
            </a:endParaRPr>
          </a:p>
        </p:txBody>
      </p:sp>
      <p:sp>
        <p:nvSpPr>
          <p:cNvPr id="9" name="TextBox 8">
            <a:extLst>
              <a:ext uri="{FF2B5EF4-FFF2-40B4-BE49-F238E27FC236}">
                <a16:creationId xmlns:a16="http://schemas.microsoft.com/office/drawing/2014/main" id="{4ABCBA16-5D17-6A32-26FE-0DD6A46FD4A0}"/>
              </a:ext>
            </a:extLst>
          </p:cNvPr>
          <p:cNvSpPr txBox="1"/>
          <p:nvPr/>
        </p:nvSpPr>
        <p:spPr>
          <a:xfrm>
            <a:off x="1243640" y="1912076"/>
            <a:ext cx="10110160" cy="1631216"/>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latin typeface="Arial Black" panose="020B0A04020102020204" pitchFamily="34" charset="0"/>
              </a:rPr>
              <a:t>Project title: Missile Money</a:t>
            </a:r>
          </a:p>
          <a:p>
            <a:pPr marL="342900" indent="-342900">
              <a:buFont typeface="Wingdings" panose="05000000000000000000" pitchFamily="2" charset="2"/>
              <a:buChar char="Ø"/>
            </a:pPr>
            <a:r>
              <a:rPr lang="en-US" sz="2000" dirty="0">
                <a:latin typeface="Arial Black" panose="020B0A04020102020204" pitchFamily="34" charset="0"/>
              </a:rPr>
              <a:t>Money management website that will provide an intuitive interface for end users that can help the user mange their money, cancel unwanted subscriptions, and save or invest money more effectively</a:t>
            </a:r>
          </a:p>
          <a:p>
            <a:pPr marL="342900" indent="-342900">
              <a:spcAft>
                <a:spcPts val="600"/>
              </a:spcAft>
              <a:buFont typeface="Wingdings" panose="05000000000000000000" pitchFamily="2" charset="2"/>
              <a:buChar char="Ø"/>
            </a:pPr>
            <a:endParaRPr lang="en-US" sz="2000" dirty="0">
              <a:latin typeface="Arial Black" panose="020B0A04020102020204" pitchFamily="34" charset="0"/>
            </a:endParaRPr>
          </a:p>
        </p:txBody>
      </p:sp>
      <p:sp>
        <p:nvSpPr>
          <p:cNvPr id="3" name="Rectangle: Rounded Corners 2">
            <a:extLst>
              <a:ext uri="{FF2B5EF4-FFF2-40B4-BE49-F238E27FC236}">
                <a16:creationId xmlns:a16="http://schemas.microsoft.com/office/drawing/2014/main" id="{38A973EE-5863-5BBE-8CFD-13B786CE4390}"/>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Tree>
    <p:extLst>
      <p:ext uri="{BB962C8B-B14F-4D97-AF65-F5344CB8AC3E}">
        <p14:creationId xmlns:p14="http://schemas.microsoft.com/office/powerpoint/2010/main" val="483523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E5610-8E10-D379-CC17-AC054EE91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F3988-1458-E7D8-DC4E-78255741632F}"/>
              </a:ext>
            </a:extLst>
          </p:cNvPr>
          <p:cNvSpPr>
            <a:spLocks noGrp="1"/>
          </p:cNvSpPr>
          <p:nvPr>
            <p:ph type="title"/>
          </p:nvPr>
        </p:nvSpPr>
        <p:spPr>
          <a:xfrm>
            <a:off x="1141413" y="618518"/>
            <a:ext cx="9905998" cy="974144"/>
          </a:xfrm>
        </p:spPr>
        <p:txBody>
          <a:bodyPr anchor="t">
            <a:normAutofit/>
          </a:bodyPr>
          <a:lstStyle/>
          <a:p>
            <a:pPr algn="ctr"/>
            <a:r>
              <a:rPr lang="en-US" sz="2800" dirty="0">
                <a:latin typeface="Arial Black" panose="020B0A04020102020204" pitchFamily="34" charset="0"/>
              </a:rPr>
              <a:t>Problem statement</a:t>
            </a:r>
          </a:p>
        </p:txBody>
      </p:sp>
      <p:sp>
        <p:nvSpPr>
          <p:cNvPr id="4" name="Date Placeholder 3">
            <a:extLst>
              <a:ext uri="{FF2B5EF4-FFF2-40B4-BE49-F238E27FC236}">
                <a16:creationId xmlns:a16="http://schemas.microsoft.com/office/drawing/2014/main" id="{A05149A0-A802-C343-2791-8ECE6CDF78EC}"/>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D1751426-1E85-554A-F79D-924190C08A7A}"/>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4</a:t>
            </a:fld>
            <a:endParaRPr lang="en-US" sz="1400">
              <a:latin typeface="Arial Black" panose="020B0A04020102020204" pitchFamily="34" charset="0"/>
            </a:endParaRPr>
          </a:p>
        </p:txBody>
      </p:sp>
      <p:sp>
        <p:nvSpPr>
          <p:cNvPr id="9" name="TextBox 8">
            <a:extLst>
              <a:ext uri="{FF2B5EF4-FFF2-40B4-BE49-F238E27FC236}">
                <a16:creationId xmlns:a16="http://schemas.microsoft.com/office/drawing/2014/main" id="{16B50D74-516F-E734-BDE4-E002B1C80F19}"/>
              </a:ext>
            </a:extLst>
          </p:cNvPr>
          <p:cNvSpPr txBox="1"/>
          <p:nvPr/>
        </p:nvSpPr>
        <p:spPr>
          <a:xfrm>
            <a:off x="1243640" y="1509740"/>
            <a:ext cx="10110160" cy="2015936"/>
          </a:xfrm>
          <a:prstGeom prst="rect">
            <a:avLst/>
          </a:prstGeom>
          <a:noFill/>
        </p:spPr>
        <p:txBody>
          <a:bodyPr wrap="square" rtlCol="0">
            <a:spAutoFit/>
          </a:bodyPr>
          <a:lstStyle/>
          <a:p>
            <a:pPr marL="342900" indent="-342900">
              <a:spcAft>
                <a:spcPts val="600"/>
              </a:spcAft>
              <a:buFont typeface="Wingdings" panose="05000000000000000000" pitchFamily="2" charset="2"/>
              <a:buChar char="Ø"/>
            </a:pPr>
            <a:r>
              <a:rPr lang="en-US" sz="2000" dirty="0">
                <a:latin typeface="Arial Black" panose="020B0A04020102020204" pitchFamily="34" charset="0"/>
              </a:rPr>
              <a:t>Managing personal finances is mor complex than it has ever been while apps like rocket money assist with tracking subscriptions and budgeting, these apps often fall short for delivering key capabilities that the end users  can leverage to more effectively manage finances</a:t>
            </a:r>
            <a:endParaRPr lang="en-GB" sz="2000" dirty="0">
              <a:latin typeface="Arial Black" panose="020B0A04020102020204" pitchFamily="34" charset="0"/>
            </a:endParaRPr>
          </a:p>
          <a:p>
            <a:pPr marL="342900" indent="-342900" algn="ctr">
              <a:spcAft>
                <a:spcPts val="600"/>
              </a:spcAft>
              <a:buFont typeface="Wingdings" panose="05000000000000000000" pitchFamily="2" charset="2"/>
              <a:buChar char="Ø"/>
            </a:pPr>
            <a:endParaRPr lang="en-US" sz="2000" dirty="0">
              <a:latin typeface="Arial Black" panose="020B0A04020102020204" pitchFamily="34" charset="0"/>
            </a:endParaRPr>
          </a:p>
        </p:txBody>
      </p:sp>
      <p:sp>
        <p:nvSpPr>
          <p:cNvPr id="7" name="Rectangle: Rounded Corners 6">
            <a:extLst>
              <a:ext uri="{FF2B5EF4-FFF2-40B4-BE49-F238E27FC236}">
                <a16:creationId xmlns:a16="http://schemas.microsoft.com/office/drawing/2014/main" id="{CBBC9FB2-E5F1-9CDC-F810-544D1EB42D65}"/>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Tree>
    <p:extLst>
      <p:ext uri="{BB962C8B-B14F-4D97-AF65-F5344CB8AC3E}">
        <p14:creationId xmlns:p14="http://schemas.microsoft.com/office/powerpoint/2010/main" val="846987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F6FC1-2A03-217D-4B04-19C18FB71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52089D-8DCD-7403-AA26-EA0A92F2E483}"/>
              </a:ext>
            </a:extLst>
          </p:cNvPr>
          <p:cNvSpPr>
            <a:spLocks noGrp="1"/>
          </p:cNvSpPr>
          <p:nvPr>
            <p:ph type="title"/>
          </p:nvPr>
        </p:nvSpPr>
        <p:spPr>
          <a:xfrm>
            <a:off x="1141413" y="618518"/>
            <a:ext cx="9905998" cy="974144"/>
          </a:xfrm>
        </p:spPr>
        <p:txBody>
          <a:bodyPr anchor="t">
            <a:normAutofit/>
          </a:bodyPr>
          <a:lstStyle/>
          <a:p>
            <a:pPr algn="ctr"/>
            <a:r>
              <a:rPr lang="en-US" sz="2800" dirty="0">
                <a:latin typeface="Arial Black" panose="020B0A04020102020204" pitchFamily="34" charset="0"/>
              </a:rPr>
              <a:t>Software engineering principles</a:t>
            </a:r>
          </a:p>
        </p:txBody>
      </p:sp>
      <p:sp>
        <p:nvSpPr>
          <p:cNvPr id="4" name="Date Placeholder 3">
            <a:extLst>
              <a:ext uri="{FF2B5EF4-FFF2-40B4-BE49-F238E27FC236}">
                <a16:creationId xmlns:a16="http://schemas.microsoft.com/office/drawing/2014/main" id="{38960B95-932B-001C-01F6-688C7CC52DC9}"/>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E6405414-9F2A-0B29-4ECE-D4FC14B32FAD}"/>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5</a:t>
            </a:fld>
            <a:endParaRPr lang="en-US" sz="1400">
              <a:latin typeface="Arial Black" panose="020B0A04020102020204" pitchFamily="34" charset="0"/>
            </a:endParaRPr>
          </a:p>
        </p:txBody>
      </p:sp>
      <p:sp>
        <p:nvSpPr>
          <p:cNvPr id="9" name="TextBox 8">
            <a:extLst>
              <a:ext uri="{FF2B5EF4-FFF2-40B4-BE49-F238E27FC236}">
                <a16:creationId xmlns:a16="http://schemas.microsoft.com/office/drawing/2014/main" id="{1E814A2A-0C02-6DAD-63BD-2DF26A087FAB}"/>
              </a:ext>
            </a:extLst>
          </p:cNvPr>
          <p:cNvSpPr txBox="1"/>
          <p:nvPr/>
        </p:nvSpPr>
        <p:spPr>
          <a:xfrm>
            <a:off x="1037843" y="1485356"/>
            <a:ext cx="10110160" cy="1631216"/>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latin typeface="Arial Black" panose="020B0A04020102020204" pitchFamily="34" charset="0"/>
              </a:rPr>
              <a:t>Agile development, we are using this methodology so we can break the work into two-week sprints to simplify and expedite the rate at which we deliver capabilities</a:t>
            </a:r>
          </a:p>
          <a:p>
            <a:pPr marL="342900" indent="-342900">
              <a:buFont typeface="Wingdings" panose="05000000000000000000" pitchFamily="2" charset="2"/>
              <a:buChar char="Ø"/>
            </a:pPr>
            <a:r>
              <a:rPr lang="en-US" sz="2000" dirty="0">
                <a:latin typeface="Arial Black" panose="020B0A04020102020204" pitchFamily="34" charset="0"/>
              </a:rPr>
              <a:t>We will be using the scrum method within Agile</a:t>
            </a:r>
          </a:p>
          <a:p>
            <a:pPr marL="342900" indent="-342900">
              <a:buFont typeface="Wingdings" panose="05000000000000000000" pitchFamily="2" charset="2"/>
              <a:buChar char="Ø"/>
            </a:pPr>
            <a:endParaRPr lang="en-US" sz="2000" dirty="0">
              <a:latin typeface="Arial Black" panose="020B0A04020102020204" pitchFamily="34" charset="0"/>
            </a:endParaRPr>
          </a:p>
        </p:txBody>
      </p:sp>
      <p:sp>
        <p:nvSpPr>
          <p:cNvPr id="3" name="Rectangle: Rounded Corners 2">
            <a:extLst>
              <a:ext uri="{FF2B5EF4-FFF2-40B4-BE49-F238E27FC236}">
                <a16:creationId xmlns:a16="http://schemas.microsoft.com/office/drawing/2014/main" id="{5B6838CF-6300-63C0-AA49-9D6D5EE66E0C}"/>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pic>
        <p:nvPicPr>
          <p:cNvPr id="5" name="Picture 4">
            <a:extLst>
              <a:ext uri="{FF2B5EF4-FFF2-40B4-BE49-F238E27FC236}">
                <a16:creationId xmlns:a16="http://schemas.microsoft.com/office/drawing/2014/main" id="{175FE53D-99F5-50DB-A392-C12EDE9CBF91}"/>
              </a:ext>
            </a:extLst>
          </p:cNvPr>
          <p:cNvPicPr>
            <a:picLocks noChangeAspect="1"/>
          </p:cNvPicPr>
          <p:nvPr/>
        </p:nvPicPr>
        <p:blipFill>
          <a:blip r:embed="rId2"/>
          <a:stretch>
            <a:fillRect/>
          </a:stretch>
        </p:blipFill>
        <p:spPr>
          <a:xfrm>
            <a:off x="2857006" y="2842656"/>
            <a:ext cx="7185896" cy="2996519"/>
          </a:xfrm>
          <a:prstGeom prst="rect">
            <a:avLst/>
          </a:prstGeom>
        </p:spPr>
      </p:pic>
    </p:spTree>
    <p:extLst>
      <p:ext uri="{BB962C8B-B14F-4D97-AF65-F5344CB8AC3E}">
        <p14:creationId xmlns:p14="http://schemas.microsoft.com/office/powerpoint/2010/main" val="1264503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D739E-F3AE-1FA2-80C6-56903505D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AF0D5-1C41-9422-02CF-914FBA460203}"/>
              </a:ext>
            </a:extLst>
          </p:cNvPr>
          <p:cNvSpPr>
            <a:spLocks noGrp="1"/>
          </p:cNvSpPr>
          <p:nvPr>
            <p:ph type="title"/>
          </p:nvPr>
        </p:nvSpPr>
        <p:spPr>
          <a:xfrm>
            <a:off x="1141413" y="618518"/>
            <a:ext cx="9905998" cy="974144"/>
          </a:xfrm>
        </p:spPr>
        <p:txBody>
          <a:bodyPr anchor="t">
            <a:normAutofit/>
          </a:bodyPr>
          <a:lstStyle/>
          <a:p>
            <a:pPr algn="ctr"/>
            <a:r>
              <a:rPr lang="en-US" sz="2800" dirty="0">
                <a:latin typeface="Arial Black" panose="020B0A04020102020204" pitchFamily="34" charset="0"/>
              </a:rPr>
              <a:t>Software engineering Tools</a:t>
            </a:r>
          </a:p>
        </p:txBody>
      </p:sp>
      <p:sp>
        <p:nvSpPr>
          <p:cNvPr id="4" name="Date Placeholder 3">
            <a:extLst>
              <a:ext uri="{FF2B5EF4-FFF2-40B4-BE49-F238E27FC236}">
                <a16:creationId xmlns:a16="http://schemas.microsoft.com/office/drawing/2014/main" id="{8D4BF376-29AB-5F00-65F0-F32C9B72C5E3}"/>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B9B620AF-EA84-0F6E-E30D-489F9674F8EC}"/>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6</a:t>
            </a:fld>
            <a:endParaRPr lang="en-US" sz="1400">
              <a:latin typeface="Arial Black" panose="020B0A04020102020204" pitchFamily="34" charset="0"/>
            </a:endParaRPr>
          </a:p>
        </p:txBody>
      </p:sp>
      <p:sp>
        <p:nvSpPr>
          <p:cNvPr id="3" name="TextBox 2">
            <a:extLst>
              <a:ext uri="{FF2B5EF4-FFF2-40B4-BE49-F238E27FC236}">
                <a16:creationId xmlns:a16="http://schemas.microsoft.com/office/drawing/2014/main" id="{7900E9EF-A9A1-819F-FE13-ED49593EA42A}"/>
              </a:ext>
            </a:extLst>
          </p:cNvPr>
          <p:cNvSpPr txBox="1"/>
          <p:nvPr/>
        </p:nvSpPr>
        <p:spPr>
          <a:xfrm>
            <a:off x="1197145" y="1488166"/>
            <a:ext cx="10110160" cy="3170099"/>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latin typeface="Arial Black" panose="020B0A04020102020204" pitchFamily="34" charset="0"/>
              </a:rPr>
              <a:t>Python for core development of the web framework</a:t>
            </a:r>
          </a:p>
          <a:p>
            <a:pPr marL="342900" indent="-342900">
              <a:buFont typeface="Wingdings" panose="05000000000000000000" pitchFamily="2" charset="2"/>
              <a:buChar char="Ø"/>
            </a:pPr>
            <a:r>
              <a:rPr lang="en-US" sz="2000" dirty="0">
                <a:latin typeface="Arial Black" panose="020B0A04020102020204" pitchFamily="34" charset="0"/>
              </a:rPr>
              <a:t>Django library within python for the build in functionality and ease of use for developing websites</a:t>
            </a:r>
          </a:p>
          <a:p>
            <a:pPr marL="342900" indent="-342900">
              <a:buFont typeface="Wingdings" panose="05000000000000000000" pitchFamily="2" charset="2"/>
              <a:buChar char="Ø"/>
            </a:pPr>
            <a:r>
              <a:rPr lang="en-US" sz="2000" dirty="0">
                <a:latin typeface="Arial Black" panose="020B0A04020102020204" pitchFamily="34" charset="0"/>
              </a:rPr>
              <a:t>PostgreSQL for database because it is the preferred database to use with Django</a:t>
            </a:r>
          </a:p>
          <a:p>
            <a:pPr marL="342900" indent="-342900">
              <a:buFont typeface="Wingdings" panose="05000000000000000000" pitchFamily="2" charset="2"/>
              <a:buChar char="Ø"/>
            </a:pPr>
            <a:r>
              <a:rPr lang="en-US" sz="2000" dirty="0">
                <a:latin typeface="Arial Black" panose="020B0A04020102020204" pitchFamily="34" charset="0"/>
              </a:rPr>
              <a:t>GitHub for collaboration, version control, and GitHub actions for automated testing</a:t>
            </a:r>
          </a:p>
          <a:p>
            <a:pPr marL="342900" indent="-342900">
              <a:buFont typeface="Wingdings" panose="05000000000000000000" pitchFamily="2" charset="2"/>
              <a:buChar char="Ø"/>
            </a:pPr>
            <a:r>
              <a:rPr lang="en-US" sz="2000" dirty="0" err="1">
                <a:latin typeface="Arial Black" panose="020B0A04020102020204" pitchFamily="34" charset="0"/>
              </a:rPr>
              <a:t>PyTest</a:t>
            </a:r>
            <a:r>
              <a:rPr lang="en-US" sz="2000" dirty="0">
                <a:latin typeface="Arial Black" panose="020B0A04020102020204" pitchFamily="34" charset="0"/>
              </a:rPr>
              <a:t> / Djangos built in test framework</a:t>
            </a:r>
          </a:p>
          <a:p>
            <a:pPr marL="342900" indent="-342900">
              <a:buFont typeface="Wingdings" panose="05000000000000000000" pitchFamily="2" charset="2"/>
              <a:buChar char="Ø"/>
            </a:pPr>
            <a:r>
              <a:rPr lang="en-US" sz="2000" dirty="0">
                <a:latin typeface="Arial Black" panose="020B0A04020102020204" pitchFamily="34" charset="0"/>
              </a:rPr>
              <a:t>AWS CloudWatch for cluster and app monitoring</a:t>
            </a:r>
          </a:p>
          <a:p>
            <a:pPr marL="342900" indent="-342900">
              <a:buFont typeface="Wingdings" panose="05000000000000000000" pitchFamily="2" charset="2"/>
              <a:buChar char="Ø"/>
            </a:pPr>
            <a:r>
              <a:rPr lang="en-US" sz="2000" dirty="0">
                <a:latin typeface="Arial Black" panose="020B0A04020102020204" pitchFamily="34" charset="0"/>
              </a:rPr>
              <a:t>GitHub projects for task tracking</a:t>
            </a:r>
          </a:p>
        </p:txBody>
      </p:sp>
      <p:sp>
        <p:nvSpPr>
          <p:cNvPr id="7" name="Rectangle: Rounded Corners 6">
            <a:extLst>
              <a:ext uri="{FF2B5EF4-FFF2-40B4-BE49-F238E27FC236}">
                <a16:creationId xmlns:a16="http://schemas.microsoft.com/office/drawing/2014/main" id="{1DF4D268-5B64-91FA-8042-2D217074A2BB}"/>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Tree>
    <p:extLst>
      <p:ext uri="{BB962C8B-B14F-4D97-AF65-F5344CB8AC3E}">
        <p14:creationId xmlns:p14="http://schemas.microsoft.com/office/powerpoint/2010/main" val="3095407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9EEBF-73ED-5550-7405-D3CF4A428E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AA679-2213-52F5-263A-2D3403E30F65}"/>
              </a:ext>
            </a:extLst>
          </p:cNvPr>
          <p:cNvSpPr>
            <a:spLocks noGrp="1"/>
          </p:cNvSpPr>
          <p:nvPr>
            <p:ph type="title"/>
          </p:nvPr>
        </p:nvSpPr>
        <p:spPr>
          <a:xfrm>
            <a:off x="1141413" y="618518"/>
            <a:ext cx="9905998" cy="974144"/>
          </a:xfrm>
        </p:spPr>
        <p:txBody>
          <a:bodyPr anchor="t">
            <a:normAutofit/>
          </a:bodyPr>
          <a:lstStyle/>
          <a:p>
            <a:pPr algn="ctr"/>
            <a:r>
              <a:rPr lang="en-US" sz="2800" dirty="0">
                <a:latin typeface="Arial Black" panose="020B0A04020102020204" pitchFamily="34" charset="0"/>
              </a:rPr>
              <a:t>Project architecture diagram</a:t>
            </a:r>
          </a:p>
        </p:txBody>
      </p:sp>
      <p:sp>
        <p:nvSpPr>
          <p:cNvPr id="4" name="Date Placeholder 3">
            <a:extLst>
              <a:ext uri="{FF2B5EF4-FFF2-40B4-BE49-F238E27FC236}">
                <a16:creationId xmlns:a16="http://schemas.microsoft.com/office/drawing/2014/main" id="{39704E34-4F10-82F6-701D-8913C7510F9D}"/>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B7A8DA2B-0198-47B7-0F5C-DC4743336F4F}"/>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7</a:t>
            </a:fld>
            <a:endParaRPr lang="en-US" sz="1400">
              <a:latin typeface="Arial Black" panose="020B0A04020102020204" pitchFamily="34" charset="0"/>
            </a:endParaRPr>
          </a:p>
        </p:txBody>
      </p:sp>
      <p:sp>
        <p:nvSpPr>
          <p:cNvPr id="3" name="TextBox 2">
            <a:extLst>
              <a:ext uri="{FF2B5EF4-FFF2-40B4-BE49-F238E27FC236}">
                <a16:creationId xmlns:a16="http://schemas.microsoft.com/office/drawing/2014/main" id="{BF11666F-9ED9-0733-6FA5-BE507695A8A0}"/>
              </a:ext>
            </a:extLst>
          </p:cNvPr>
          <p:cNvSpPr txBox="1"/>
          <p:nvPr/>
        </p:nvSpPr>
        <p:spPr>
          <a:xfrm>
            <a:off x="1104873" y="1233333"/>
            <a:ext cx="9975927" cy="5278368"/>
          </a:xfrm>
          <a:prstGeom prst="rect">
            <a:avLst/>
          </a:prstGeom>
          <a:noFill/>
        </p:spPr>
        <p:txBody>
          <a:bodyPr wrap="square" rtlCol="0">
            <a:spAutoFit/>
          </a:bodyPr>
          <a:lstStyle/>
          <a:p>
            <a:pPr marL="342900" indent="-342900">
              <a:spcAft>
                <a:spcPts val="600"/>
              </a:spcAft>
              <a:buFont typeface="Wingdings" panose="05000000000000000000" pitchFamily="2" charset="2"/>
              <a:buChar char="Ø"/>
            </a:pPr>
            <a:r>
              <a:rPr lang="en-US" sz="2000" dirty="0">
                <a:latin typeface="Arial Black" panose="020B0A04020102020204" pitchFamily="34" charset="0"/>
              </a:rPr>
              <a:t>Include your planned project architecture diagram</a:t>
            </a:r>
          </a:p>
          <a:p>
            <a:pPr marL="342900" indent="-342900">
              <a:spcAft>
                <a:spcPts val="600"/>
              </a:spcAft>
              <a:buFont typeface="Wingdings" panose="05000000000000000000" pitchFamily="2" charset="2"/>
              <a:buChar char="Ø"/>
            </a:pPr>
            <a:r>
              <a:rPr lang="en-US" sz="2000" dirty="0">
                <a:latin typeface="Arial Black" panose="020B0A04020102020204" pitchFamily="34" charset="0"/>
              </a:rPr>
              <a:t>Architecture is the critical link between requirements and programming engineering, as it identifies the </a:t>
            </a:r>
            <a:r>
              <a:rPr lang="en-US" sz="2000" u="sng" dirty="0">
                <a:latin typeface="Arial Black" panose="020B0A04020102020204" pitchFamily="34" charset="0"/>
              </a:rPr>
              <a:t>main structural components </a:t>
            </a:r>
            <a:r>
              <a:rPr lang="en-US" sz="2000" dirty="0">
                <a:latin typeface="Arial Black" panose="020B0A04020102020204" pitchFamily="34" charset="0"/>
              </a:rPr>
              <a:t>in a </a:t>
            </a:r>
            <a:r>
              <a:rPr lang="en-US" sz="2000" u="sng" dirty="0">
                <a:latin typeface="Arial Black" panose="020B0A04020102020204" pitchFamily="34" charset="0"/>
              </a:rPr>
              <a:t>product</a:t>
            </a:r>
            <a:r>
              <a:rPr lang="en-US" sz="2000" dirty="0">
                <a:latin typeface="Arial Black" panose="020B0A04020102020204" pitchFamily="34" charset="0"/>
              </a:rPr>
              <a:t> and the relationships between them</a:t>
            </a:r>
          </a:p>
          <a:p>
            <a:pPr marL="342900" indent="-342900">
              <a:spcAft>
                <a:spcPts val="600"/>
              </a:spcAft>
              <a:buFont typeface="Wingdings" panose="05000000000000000000" pitchFamily="2" charset="2"/>
              <a:buChar char="Ø"/>
            </a:pPr>
            <a:r>
              <a:rPr lang="en-US" sz="2000" dirty="0">
                <a:latin typeface="Arial Black" panose="020B0A04020102020204" pitchFamily="34" charset="0"/>
              </a:rPr>
              <a:t>Architecture is concerned with the architecture of the individual program, the way that it is decomposed into components (Lecture 7)</a:t>
            </a:r>
            <a:r>
              <a:rPr lang="en-US" sz="2000" b="1" dirty="0">
                <a:latin typeface="Arial Black" panose="020B0A04020102020204" pitchFamily="34" charset="0"/>
              </a:rPr>
              <a:t>  </a:t>
            </a:r>
            <a:r>
              <a:rPr lang="en-US" sz="2000" b="1" dirty="0">
                <a:solidFill>
                  <a:srgbClr val="FFFF00"/>
                </a:solidFill>
                <a:latin typeface="Arial Black" panose="020B0A04020102020204" pitchFamily="34" charset="0"/>
              </a:rPr>
              <a:t>EXECUTABLE PROGRAM</a:t>
            </a:r>
            <a:r>
              <a:rPr lang="en-US" sz="2000" b="1" dirty="0">
                <a:latin typeface="Arial Black" panose="020B0A04020102020204" pitchFamily="34" charset="0"/>
              </a:rPr>
              <a:t> </a:t>
            </a:r>
            <a:endParaRPr lang="en-US" sz="2000" dirty="0">
              <a:latin typeface="Arial Black" panose="020B0A04020102020204" pitchFamily="34" charset="0"/>
            </a:endParaRPr>
          </a:p>
          <a:p>
            <a:pPr marL="800100" lvl="1" indent="-342900">
              <a:spcAft>
                <a:spcPts val="600"/>
              </a:spcAft>
              <a:buFont typeface="Wingdings" panose="05000000000000000000" pitchFamily="2" charset="2"/>
              <a:buChar char="Ø"/>
            </a:pPr>
            <a:r>
              <a:rPr lang="en-US" sz="1600" u="sng" dirty="0">
                <a:latin typeface="Arial Black" panose="020B0A04020102020204" pitchFamily="34" charset="0"/>
              </a:rPr>
              <a:t>Logical</a:t>
            </a:r>
            <a:r>
              <a:rPr lang="en-US" sz="1600" dirty="0">
                <a:latin typeface="Arial Black" panose="020B0A04020102020204" pitchFamily="34" charset="0"/>
              </a:rPr>
              <a:t> - depicting key abstractions in the system as objects or object classes </a:t>
            </a:r>
            <a:endParaRPr lang="en-GB" sz="1600" dirty="0">
              <a:latin typeface="Arial Black" panose="020B0A04020102020204" pitchFamily="34" charset="0"/>
            </a:endParaRPr>
          </a:p>
          <a:p>
            <a:pPr marL="800100" lvl="1" indent="-342900">
              <a:spcAft>
                <a:spcPts val="600"/>
              </a:spcAft>
              <a:buFont typeface="Wingdings" panose="05000000000000000000" pitchFamily="2" charset="2"/>
              <a:buChar char="Ø"/>
            </a:pPr>
            <a:r>
              <a:rPr lang="en-US" sz="1600" u="sng" dirty="0">
                <a:latin typeface="Arial Black" panose="020B0A04020102020204" pitchFamily="34" charset="0"/>
              </a:rPr>
              <a:t>Process</a:t>
            </a:r>
            <a:r>
              <a:rPr lang="en-US" sz="1600" dirty="0">
                <a:latin typeface="Arial Black" panose="020B0A04020102020204" pitchFamily="34" charset="0"/>
              </a:rPr>
              <a:t> - shows how, at run-time, the system is composed of interacting processes</a:t>
            </a:r>
            <a:endParaRPr lang="en-GB" sz="1600" dirty="0">
              <a:latin typeface="Arial Black" panose="020B0A04020102020204" pitchFamily="34" charset="0"/>
            </a:endParaRPr>
          </a:p>
          <a:p>
            <a:pPr marL="800100" lvl="1" indent="-342900">
              <a:spcAft>
                <a:spcPts val="600"/>
              </a:spcAft>
              <a:buFont typeface="Wingdings" panose="05000000000000000000" pitchFamily="2" charset="2"/>
              <a:buChar char="Ø"/>
            </a:pPr>
            <a:r>
              <a:rPr lang="en-US" sz="1600" u="sng" dirty="0">
                <a:latin typeface="Arial Black" panose="020B0A04020102020204" pitchFamily="34" charset="0"/>
              </a:rPr>
              <a:t>Development</a:t>
            </a:r>
            <a:r>
              <a:rPr lang="en-US" sz="1600" dirty="0">
                <a:latin typeface="Arial Black" panose="020B0A04020102020204" pitchFamily="34" charset="0"/>
              </a:rPr>
              <a:t> – reflecting how the software is decomposed for development</a:t>
            </a:r>
            <a:endParaRPr lang="en-GB" sz="1600" dirty="0">
              <a:latin typeface="Arial Black" panose="020B0A04020102020204" pitchFamily="34" charset="0"/>
            </a:endParaRPr>
          </a:p>
          <a:p>
            <a:pPr marL="800100" lvl="1" indent="-342900">
              <a:spcAft>
                <a:spcPts val="600"/>
              </a:spcAft>
              <a:buFont typeface="Wingdings" panose="05000000000000000000" pitchFamily="2" charset="2"/>
              <a:buChar char="Ø"/>
            </a:pPr>
            <a:r>
              <a:rPr lang="en-US" sz="1600" u="sng" dirty="0">
                <a:latin typeface="Arial Black" panose="020B0A04020102020204" pitchFamily="34" charset="0"/>
              </a:rPr>
              <a:t>Physical</a:t>
            </a:r>
            <a:r>
              <a:rPr lang="en-US" sz="1600" dirty="0">
                <a:latin typeface="Arial Black" panose="020B0A04020102020204" pitchFamily="34" charset="0"/>
              </a:rPr>
              <a:t> - showing the system hardware and how software components are distributed across the processors in the system</a:t>
            </a:r>
          </a:p>
          <a:p>
            <a:pPr marL="800100" lvl="1" indent="-342900">
              <a:spcAft>
                <a:spcPts val="600"/>
              </a:spcAft>
              <a:buFont typeface="Wingdings" panose="05000000000000000000" pitchFamily="2" charset="2"/>
              <a:buChar char="Ø"/>
            </a:pPr>
            <a:r>
              <a:rPr lang="en-US" sz="1600" u="sng" dirty="0">
                <a:latin typeface="Arial Black" panose="020B0A04020102020204" pitchFamily="34" charset="0"/>
              </a:rPr>
              <a:t>Related</a:t>
            </a:r>
            <a:r>
              <a:rPr lang="en-US" sz="1600" dirty="0">
                <a:latin typeface="Arial Black" panose="020B0A04020102020204" pitchFamily="34" charset="0"/>
              </a:rPr>
              <a:t> - depicting use cases or scenarios (+1) </a:t>
            </a:r>
            <a:endParaRPr lang="en-GB" sz="1600" dirty="0">
              <a:latin typeface="Arial Black" panose="020B0A04020102020204" pitchFamily="34" charset="0"/>
            </a:endParaRPr>
          </a:p>
          <a:p>
            <a:pPr marL="342900" indent="-342900">
              <a:spcAft>
                <a:spcPts val="600"/>
              </a:spcAft>
              <a:buFont typeface="Wingdings" panose="05000000000000000000" pitchFamily="2" charset="2"/>
              <a:buChar char="Ø"/>
            </a:pPr>
            <a:endParaRPr lang="en-US" sz="2000" dirty="0">
              <a:latin typeface="Arial Black" panose="020B0A04020102020204" pitchFamily="34" charset="0"/>
            </a:endParaRPr>
          </a:p>
          <a:p>
            <a:pPr marL="342900" indent="-342900">
              <a:spcAft>
                <a:spcPts val="600"/>
              </a:spcAft>
              <a:buFont typeface="Wingdings" panose="05000000000000000000" pitchFamily="2" charset="2"/>
              <a:buChar char="Ø"/>
            </a:pPr>
            <a:endParaRPr lang="en-US" sz="2000" dirty="0">
              <a:latin typeface="Arial Black" panose="020B0A04020102020204" pitchFamily="34" charset="0"/>
            </a:endParaRPr>
          </a:p>
        </p:txBody>
      </p:sp>
      <p:sp>
        <p:nvSpPr>
          <p:cNvPr id="7" name="Rectangle: Rounded Corners 6">
            <a:extLst>
              <a:ext uri="{FF2B5EF4-FFF2-40B4-BE49-F238E27FC236}">
                <a16:creationId xmlns:a16="http://schemas.microsoft.com/office/drawing/2014/main" id="{409D037E-00B4-07EB-059C-8D22EFA91313}"/>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Tree>
    <p:extLst>
      <p:ext uri="{BB962C8B-B14F-4D97-AF65-F5344CB8AC3E}">
        <p14:creationId xmlns:p14="http://schemas.microsoft.com/office/powerpoint/2010/main" val="3380140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1E9D2-BBD9-CBBB-98C8-2AD89DA64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2E08A0-2A31-75DB-BAC8-5F57814C2F50}"/>
              </a:ext>
            </a:extLst>
          </p:cNvPr>
          <p:cNvSpPr>
            <a:spLocks noGrp="1"/>
          </p:cNvSpPr>
          <p:nvPr>
            <p:ph type="title"/>
          </p:nvPr>
        </p:nvSpPr>
        <p:spPr>
          <a:xfrm>
            <a:off x="1141413" y="618518"/>
            <a:ext cx="9905998" cy="974144"/>
          </a:xfrm>
        </p:spPr>
        <p:txBody>
          <a:bodyPr anchor="t">
            <a:normAutofit/>
          </a:bodyPr>
          <a:lstStyle/>
          <a:p>
            <a:pPr algn="ctr"/>
            <a:r>
              <a:rPr lang="en-US" sz="2800" dirty="0">
                <a:latin typeface="Arial Black" panose="020B0A04020102020204" pitchFamily="34" charset="0"/>
              </a:rPr>
              <a:t>Project Software design diagram</a:t>
            </a:r>
          </a:p>
        </p:txBody>
      </p:sp>
      <p:sp>
        <p:nvSpPr>
          <p:cNvPr id="4" name="Date Placeholder 3">
            <a:extLst>
              <a:ext uri="{FF2B5EF4-FFF2-40B4-BE49-F238E27FC236}">
                <a16:creationId xmlns:a16="http://schemas.microsoft.com/office/drawing/2014/main" id="{6866286C-388F-250F-27F6-727C1A4C0FD1}"/>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2E03168B-658A-3A2C-BEFC-D4C56E1385CD}"/>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8</a:t>
            </a:fld>
            <a:endParaRPr lang="en-US" sz="1400">
              <a:latin typeface="Arial Black" panose="020B0A04020102020204" pitchFamily="34" charset="0"/>
            </a:endParaRPr>
          </a:p>
        </p:txBody>
      </p:sp>
      <p:sp>
        <p:nvSpPr>
          <p:cNvPr id="3" name="TextBox 2">
            <a:extLst>
              <a:ext uri="{FF2B5EF4-FFF2-40B4-BE49-F238E27FC236}">
                <a16:creationId xmlns:a16="http://schemas.microsoft.com/office/drawing/2014/main" id="{1083633A-A6AF-EA57-37A4-210B5FADF82E}"/>
              </a:ext>
            </a:extLst>
          </p:cNvPr>
          <p:cNvSpPr txBox="1"/>
          <p:nvPr/>
        </p:nvSpPr>
        <p:spPr>
          <a:xfrm>
            <a:off x="917966" y="1745397"/>
            <a:ext cx="10110160" cy="4170372"/>
          </a:xfrm>
          <a:prstGeom prst="rect">
            <a:avLst/>
          </a:prstGeom>
          <a:noFill/>
        </p:spPr>
        <p:txBody>
          <a:bodyPr wrap="square" rtlCol="0">
            <a:spAutoFit/>
          </a:bodyPr>
          <a:lstStyle/>
          <a:p>
            <a:pPr marL="342900" indent="-342900">
              <a:spcAft>
                <a:spcPts val="600"/>
              </a:spcAft>
              <a:buFont typeface="Wingdings" panose="05000000000000000000" pitchFamily="2" charset="2"/>
              <a:buChar char="Ø"/>
            </a:pPr>
            <a:r>
              <a:rPr lang="en-US" sz="2000" dirty="0">
                <a:latin typeface="Arial Black" panose="020B0A04020102020204" pitchFamily="34" charset="0"/>
              </a:rPr>
              <a:t>Include your planned project CODE design diagram</a:t>
            </a:r>
          </a:p>
          <a:p>
            <a:pPr marL="342900" indent="-342900">
              <a:spcAft>
                <a:spcPts val="600"/>
              </a:spcAft>
              <a:buFont typeface="Wingdings" panose="05000000000000000000" pitchFamily="2" charset="2"/>
              <a:buChar char="Ø"/>
            </a:pPr>
            <a:r>
              <a:rPr lang="en-US" sz="2000" dirty="0">
                <a:latin typeface="Arial Black" panose="020B0A04020102020204" pitchFamily="34" charset="0"/>
              </a:rPr>
              <a:t>Models are a good way of facilitating discussions about a </a:t>
            </a:r>
            <a:r>
              <a:rPr lang="en-US" sz="2000" b="1" dirty="0">
                <a:solidFill>
                  <a:srgbClr val="FFFF00"/>
                </a:solidFill>
                <a:latin typeface="Arial Black" panose="020B0A04020102020204" pitchFamily="34" charset="0"/>
              </a:rPr>
              <a:t>SOFTWARE</a:t>
            </a:r>
            <a:r>
              <a:rPr lang="en-US" sz="2000" dirty="0">
                <a:latin typeface="Arial Black" panose="020B0A04020102020204" pitchFamily="34" charset="0"/>
              </a:rPr>
              <a:t> design (LECTURE 8)</a:t>
            </a:r>
          </a:p>
          <a:p>
            <a:pPr marL="342900" indent="-342900">
              <a:spcAft>
                <a:spcPts val="600"/>
              </a:spcAft>
              <a:buFont typeface="Wingdings" panose="05000000000000000000" pitchFamily="2" charset="2"/>
              <a:buChar char="Ø"/>
            </a:pPr>
            <a:r>
              <a:rPr lang="en-US" sz="2000" dirty="0">
                <a:latin typeface="Arial Black" panose="020B0A04020102020204" pitchFamily="34" charset="0"/>
              </a:rPr>
              <a:t>For most complex systems, implementation is not the major problem – requirements engineering, security and dependability, integration with legacy systems and testing are all more significant</a:t>
            </a:r>
          </a:p>
          <a:p>
            <a:pPr marL="342900" indent="-342900">
              <a:spcAft>
                <a:spcPts val="600"/>
              </a:spcAft>
              <a:buFont typeface="Wingdings" panose="05000000000000000000" pitchFamily="2" charset="2"/>
              <a:buChar char="Ø"/>
            </a:pPr>
            <a:r>
              <a:rPr lang="en-US" sz="2000" dirty="0">
                <a:latin typeface="Arial Black" panose="020B0A04020102020204" pitchFamily="34" charset="0"/>
              </a:rPr>
              <a:t>Software design is a creative activity in which you identify HOW the software components and their relationships, based on a customer’s requirements (LECTURE 8) will be organized – state diagrams, sequence diagrams, interface diagrams, etc.</a:t>
            </a:r>
          </a:p>
          <a:p>
            <a:pPr marL="342900" indent="-342900">
              <a:spcAft>
                <a:spcPts val="600"/>
              </a:spcAft>
              <a:buFont typeface="Wingdings" panose="05000000000000000000" pitchFamily="2" charset="2"/>
              <a:buChar char="Ø"/>
            </a:pPr>
            <a:endParaRPr lang="en-US" sz="2000" dirty="0">
              <a:latin typeface="Arial Black" panose="020B0A04020102020204" pitchFamily="34" charset="0"/>
            </a:endParaRPr>
          </a:p>
          <a:p>
            <a:pPr marL="342900" indent="-342900">
              <a:spcAft>
                <a:spcPts val="600"/>
              </a:spcAft>
              <a:buFont typeface="Wingdings" panose="05000000000000000000" pitchFamily="2" charset="2"/>
              <a:buChar char="Ø"/>
            </a:pPr>
            <a:endParaRPr lang="en-US" sz="2000" dirty="0">
              <a:latin typeface="Arial Black" panose="020B0A04020102020204" pitchFamily="34" charset="0"/>
            </a:endParaRPr>
          </a:p>
        </p:txBody>
      </p:sp>
      <p:sp>
        <p:nvSpPr>
          <p:cNvPr id="9" name="Rectangle: Rounded Corners 8">
            <a:extLst>
              <a:ext uri="{FF2B5EF4-FFF2-40B4-BE49-F238E27FC236}">
                <a16:creationId xmlns:a16="http://schemas.microsoft.com/office/drawing/2014/main" id="{4C714977-4DA2-0192-AD74-4547564E48A6}"/>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Tree>
    <p:extLst>
      <p:ext uri="{BB962C8B-B14F-4D97-AF65-F5344CB8AC3E}">
        <p14:creationId xmlns:p14="http://schemas.microsoft.com/office/powerpoint/2010/main" val="1995575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3EEFB-FF7A-379C-3F66-317C32D47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A86D0E-E52F-97E6-7CFD-CD141D464204}"/>
              </a:ext>
            </a:extLst>
          </p:cNvPr>
          <p:cNvSpPr>
            <a:spLocks noGrp="1"/>
          </p:cNvSpPr>
          <p:nvPr>
            <p:ph type="title"/>
          </p:nvPr>
        </p:nvSpPr>
        <p:spPr>
          <a:xfrm>
            <a:off x="1141413" y="618518"/>
            <a:ext cx="9905998" cy="974144"/>
          </a:xfrm>
        </p:spPr>
        <p:txBody>
          <a:bodyPr anchor="t">
            <a:normAutofit/>
          </a:bodyPr>
          <a:lstStyle/>
          <a:p>
            <a:pPr algn="ctr"/>
            <a:r>
              <a:rPr lang="en-US" sz="2800" dirty="0">
                <a:latin typeface="Arial Black" panose="020B0A04020102020204" pitchFamily="34" charset="0"/>
              </a:rPr>
              <a:t>Project Perspective model diagram</a:t>
            </a:r>
          </a:p>
        </p:txBody>
      </p:sp>
      <p:sp>
        <p:nvSpPr>
          <p:cNvPr id="4" name="Date Placeholder 3">
            <a:extLst>
              <a:ext uri="{FF2B5EF4-FFF2-40B4-BE49-F238E27FC236}">
                <a16:creationId xmlns:a16="http://schemas.microsoft.com/office/drawing/2014/main" id="{8C55E1BB-288E-2DF9-4D25-E3053FC785D1}"/>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08F9E71A-56D3-5C15-C39C-84CD218851CA}"/>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9</a:t>
            </a:fld>
            <a:endParaRPr lang="en-US" sz="1400">
              <a:latin typeface="Arial Black" panose="020B0A04020102020204" pitchFamily="34" charset="0"/>
            </a:endParaRPr>
          </a:p>
        </p:txBody>
      </p:sp>
      <p:sp>
        <p:nvSpPr>
          <p:cNvPr id="8" name="TextBox 7">
            <a:extLst>
              <a:ext uri="{FF2B5EF4-FFF2-40B4-BE49-F238E27FC236}">
                <a16:creationId xmlns:a16="http://schemas.microsoft.com/office/drawing/2014/main" id="{6DB734ED-A58F-3833-15C0-BBF1C7C39CA1}"/>
              </a:ext>
            </a:extLst>
          </p:cNvPr>
          <p:cNvSpPr txBox="1"/>
          <p:nvPr/>
        </p:nvSpPr>
        <p:spPr>
          <a:xfrm>
            <a:off x="1138704" y="1507318"/>
            <a:ext cx="9942096" cy="3016210"/>
          </a:xfrm>
          <a:prstGeom prst="rect">
            <a:avLst/>
          </a:prstGeom>
          <a:noFill/>
        </p:spPr>
        <p:txBody>
          <a:bodyPr wrap="square" rtlCol="0">
            <a:spAutoFit/>
          </a:bodyPr>
          <a:lstStyle/>
          <a:p>
            <a:pPr marL="342900" indent="-342900">
              <a:spcAft>
                <a:spcPts val="600"/>
              </a:spcAft>
              <a:buFont typeface="Wingdings" panose="05000000000000000000" pitchFamily="2" charset="2"/>
              <a:buChar char="Ø"/>
            </a:pPr>
            <a:r>
              <a:rPr lang="en-US" sz="2000" dirty="0">
                <a:latin typeface="Arial Black" panose="020B0A04020102020204" pitchFamily="34" charset="0"/>
              </a:rPr>
              <a:t>Include at least one perspective model diagram</a:t>
            </a:r>
          </a:p>
          <a:p>
            <a:pPr marL="342900" indent="-342900">
              <a:spcAft>
                <a:spcPts val="600"/>
              </a:spcAft>
              <a:buFont typeface="Wingdings" panose="05000000000000000000" pitchFamily="2" charset="2"/>
              <a:buChar char="Ø"/>
            </a:pPr>
            <a:r>
              <a:rPr lang="en-US" sz="2000" dirty="0">
                <a:latin typeface="Arial Black" panose="020B0A04020102020204" pitchFamily="34" charset="0"/>
                <a:ea typeface="Times New Roman"/>
                <a:cs typeface="Arial"/>
              </a:rPr>
              <a:t>Perspective </a:t>
            </a:r>
          </a:p>
          <a:p>
            <a:pPr marL="800100" lvl="1" indent="-342900">
              <a:spcAft>
                <a:spcPts val="600"/>
              </a:spcAft>
              <a:buFont typeface="Wingdings" panose="05000000000000000000" pitchFamily="2" charset="2"/>
              <a:buChar char="Ø"/>
            </a:pPr>
            <a:r>
              <a:rPr lang="en-US" sz="2000" dirty="0">
                <a:latin typeface="Arial Black" panose="020B0A04020102020204" pitchFamily="34" charset="0"/>
                <a:ea typeface="Times New Roman"/>
                <a:cs typeface="Arial"/>
              </a:rPr>
              <a:t>External/</a:t>
            </a:r>
            <a:r>
              <a:rPr lang="en-US" sz="2000" dirty="0">
                <a:solidFill>
                  <a:srgbClr val="FFFF00"/>
                </a:solidFill>
                <a:latin typeface="Arial Black" panose="020B0A04020102020204" pitchFamily="34" charset="0"/>
                <a:ea typeface="Times New Roman"/>
                <a:cs typeface="Arial"/>
              </a:rPr>
              <a:t>Context</a:t>
            </a:r>
            <a:r>
              <a:rPr lang="en-US" sz="2000" dirty="0">
                <a:latin typeface="Arial Black" panose="020B0A04020102020204" pitchFamily="34" charset="0"/>
                <a:ea typeface="Times New Roman"/>
                <a:cs typeface="Arial"/>
              </a:rPr>
              <a:t>, modeling the context or environment</a:t>
            </a:r>
          </a:p>
          <a:p>
            <a:pPr marL="800100" lvl="1" indent="-342900">
              <a:spcAft>
                <a:spcPts val="600"/>
              </a:spcAft>
              <a:buFont typeface="Wingdings" panose="05000000000000000000" pitchFamily="2" charset="2"/>
              <a:buChar char="Ø"/>
            </a:pPr>
            <a:r>
              <a:rPr lang="en-US" sz="2000" dirty="0">
                <a:solidFill>
                  <a:srgbClr val="FFFF00"/>
                </a:solidFill>
                <a:latin typeface="Arial Black" panose="020B0A04020102020204" pitchFamily="34" charset="0"/>
                <a:ea typeface="Times New Roman"/>
                <a:cs typeface="Arial"/>
              </a:rPr>
              <a:t>Interaction</a:t>
            </a:r>
            <a:r>
              <a:rPr lang="en-US" sz="2000" dirty="0">
                <a:latin typeface="Arial Black" panose="020B0A04020102020204" pitchFamily="34" charset="0"/>
                <a:ea typeface="Times New Roman"/>
                <a:cs typeface="Arial"/>
              </a:rPr>
              <a:t>, modeling component and/or environment interactions</a:t>
            </a:r>
          </a:p>
          <a:p>
            <a:pPr marL="800100" lvl="1" indent="-342900">
              <a:spcAft>
                <a:spcPts val="600"/>
              </a:spcAft>
              <a:buFont typeface="Wingdings" panose="05000000000000000000" pitchFamily="2" charset="2"/>
              <a:buChar char="Ø"/>
            </a:pPr>
            <a:r>
              <a:rPr lang="en-US" sz="2000" dirty="0">
                <a:solidFill>
                  <a:srgbClr val="FFFF00"/>
                </a:solidFill>
                <a:latin typeface="Arial Black" panose="020B0A04020102020204" pitchFamily="34" charset="0"/>
                <a:ea typeface="Times New Roman"/>
                <a:cs typeface="Arial"/>
              </a:rPr>
              <a:t>Structural</a:t>
            </a:r>
            <a:r>
              <a:rPr lang="en-US" sz="2000" dirty="0">
                <a:latin typeface="Arial Black" panose="020B0A04020102020204" pitchFamily="34" charset="0"/>
                <a:ea typeface="Times New Roman"/>
                <a:cs typeface="Arial"/>
              </a:rPr>
              <a:t>, modeling organization or data structure </a:t>
            </a:r>
          </a:p>
          <a:p>
            <a:pPr marL="800100" lvl="1" indent="-342900">
              <a:spcAft>
                <a:spcPts val="600"/>
              </a:spcAft>
              <a:buFont typeface="Wingdings" panose="05000000000000000000" pitchFamily="2" charset="2"/>
              <a:buChar char="Ø"/>
            </a:pPr>
            <a:r>
              <a:rPr lang="en-US" sz="2000" dirty="0">
                <a:solidFill>
                  <a:srgbClr val="FFFF00"/>
                </a:solidFill>
                <a:latin typeface="Arial Black" panose="020B0A04020102020204" pitchFamily="34" charset="0"/>
                <a:ea typeface="Times New Roman"/>
                <a:cs typeface="Arial"/>
              </a:rPr>
              <a:t>Behavioral</a:t>
            </a:r>
            <a:r>
              <a:rPr lang="en-US" sz="2000" dirty="0">
                <a:latin typeface="Arial Black" panose="020B0A04020102020204" pitchFamily="34" charset="0"/>
                <a:ea typeface="Times New Roman"/>
                <a:cs typeface="Arial"/>
              </a:rPr>
              <a:t>, modeling behavior, responses to events</a:t>
            </a:r>
          </a:p>
          <a:p>
            <a:pPr marL="342900" indent="-342900">
              <a:spcAft>
                <a:spcPts val="600"/>
              </a:spcAft>
              <a:buFont typeface="Wingdings" panose="05000000000000000000" pitchFamily="2" charset="2"/>
              <a:buChar char="Ø"/>
            </a:pPr>
            <a:endParaRPr lang="en-US" sz="2000" dirty="0">
              <a:latin typeface="Arial Black" panose="020B0A04020102020204" pitchFamily="34" charset="0"/>
            </a:endParaRPr>
          </a:p>
        </p:txBody>
      </p:sp>
      <p:sp>
        <p:nvSpPr>
          <p:cNvPr id="9" name="Rectangle: Rounded Corners 8">
            <a:extLst>
              <a:ext uri="{FF2B5EF4-FFF2-40B4-BE49-F238E27FC236}">
                <a16:creationId xmlns:a16="http://schemas.microsoft.com/office/drawing/2014/main" id="{CEB82408-9601-6328-C11D-1AD93A7056E4}"/>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Tree>
    <p:extLst>
      <p:ext uri="{BB962C8B-B14F-4D97-AF65-F5344CB8AC3E}">
        <p14:creationId xmlns:p14="http://schemas.microsoft.com/office/powerpoint/2010/main" val="1265825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6FE4B-8816-A328-A256-26782EFE1F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95B98-7366-8E17-B569-344E0A951CCD}"/>
              </a:ext>
            </a:extLst>
          </p:cNvPr>
          <p:cNvSpPr>
            <a:spLocks noGrp="1"/>
          </p:cNvSpPr>
          <p:nvPr>
            <p:ph type="title"/>
          </p:nvPr>
        </p:nvSpPr>
        <p:spPr>
          <a:xfrm>
            <a:off x="1141413" y="618518"/>
            <a:ext cx="9905998" cy="974144"/>
          </a:xfrm>
        </p:spPr>
        <p:txBody>
          <a:bodyPr anchor="t">
            <a:normAutofit/>
          </a:bodyPr>
          <a:lstStyle/>
          <a:p>
            <a:pPr algn="ctr"/>
            <a:r>
              <a:rPr lang="en-US" sz="2800" dirty="0">
                <a:latin typeface="Arial Black" panose="020B0A04020102020204" pitchFamily="34" charset="0"/>
              </a:rPr>
              <a:t>Project requirements</a:t>
            </a:r>
          </a:p>
        </p:txBody>
      </p:sp>
      <p:sp>
        <p:nvSpPr>
          <p:cNvPr id="4" name="Date Placeholder 3">
            <a:extLst>
              <a:ext uri="{FF2B5EF4-FFF2-40B4-BE49-F238E27FC236}">
                <a16:creationId xmlns:a16="http://schemas.microsoft.com/office/drawing/2014/main" id="{B5075FAD-04BB-2A2E-DEEB-40BD2C0AAE48}"/>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392388A3-1C3C-C135-2CB7-48C68433B905}"/>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10</a:t>
            </a:fld>
            <a:endParaRPr lang="en-US" sz="1400">
              <a:latin typeface="Arial Black" panose="020B0A04020102020204" pitchFamily="34" charset="0"/>
            </a:endParaRPr>
          </a:p>
        </p:txBody>
      </p:sp>
      <p:sp>
        <p:nvSpPr>
          <p:cNvPr id="9" name="Content Placeholder 8">
            <a:extLst>
              <a:ext uri="{FF2B5EF4-FFF2-40B4-BE49-F238E27FC236}">
                <a16:creationId xmlns:a16="http://schemas.microsoft.com/office/drawing/2014/main" id="{317FAD6E-DCE4-72F8-EBA9-82EF7B93F373}"/>
              </a:ext>
            </a:extLst>
          </p:cNvPr>
          <p:cNvSpPr txBox="1">
            <a:spLocks noGrp="1"/>
          </p:cNvSpPr>
          <p:nvPr>
            <p:ph idx="1"/>
          </p:nvPr>
        </p:nvSpPr>
        <p:spPr>
          <a:xfrm>
            <a:off x="1138704" y="1504169"/>
            <a:ext cx="9942096" cy="806246"/>
          </a:xfrm>
          <a:prstGeom prst="rect">
            <a:avLst/>
          </a:prstGeom>
          <a:noFill/>
        </p:spPr>
        <p:txBody>
          <a:bodyPr wrap="square" rtlCol="0">
            <a:spAutoFit/>
          </a:bodyPr>
          <a:lstStyle/>
          <a:p>
            <a:pPr marL="342900" indent="-342900">
              <a:spcAft>
                <a:spcPts val="600"/>
              </a:spcAft>
              <a:buFont typeface="Wingdings" panose="05000000000000000000" pitchFamily="2" charset="2"/>
              <a:buChar char="Ø"/>
            </a:pPr>
            <a:r>
              <a:rPr lang="en-US" sz="2000" dirty="0">
                <a:latin typeface="Arial Black" panose="020B0A04020102020204" pitchFamily="34" charset="0"/>
              </a:rPr>
              <a:t>Present the planned project decomposed requirements spreadsheet to include deliveries and testing information</a:t>
            </a:r>
          </a:p>
        </p:txBody>
      </p:sp>
      <p:sp>
        <p:nvSpPr>
          <p:cNvPr id="3" name="Rectangle: Rounded Corners 2">
            <a:extLst>
              <a:ext uri="{FF2B5EF4-FFF2-40B4-BE49-F238E27FC236}">
                <a16:creationId xmlns:a16="http://schemas.microsoft.com/office/drawing/2014/main" id="{247AE183-B614-7AD6-FF84-863ECA188FA6}"/>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Tree>
    <p:extLst>
      <p:ext uri="{BB962C8B-B14F-4D97-AF65-F5344CB8AC3E}">
        <p14:creationId xmlns:p14="http://schemas.microsoft.com/office/powerpoint/2010/main" val="1789248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EAF64-A4D1-E981-5072-5EC47A422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E2E3C-B86B-4B16-4A3A-0E800D674102}"/>
              </a:ext>
            </a:extLst>
          </p:cNvPr>
          <p:cNvSpPr>
            <a:spLocks noGrp="1"/>
          </p:cNvSpPr>
          <p:nvPr>
            <p:ph type="title"/>
          </p:nvPr>
        </p:nvSpPr>
        <p:spPr>
          <a:xfrm>
            <a:off x="616688" y="618518"/>
            <a:ext cx="11100391" cy="974144"/>
          </a:xfrm>
        </p:spPr>
        <p:txBody>
          <a:bodyPr anchor="t">
            <a:normAutofit/>
          </a:bodyPr>
          <a:lstStyle/>
          <a:p>
            <a:pPr algn="ctr"/>
            <a:r>
              <a:rPr lang="en-US" sz="2800" dirty="0">
                <a:latin typeface="Arial Black" panose="020B0A04020102020204" pitchFamily="34" charset="0"/>
              </a:rPr>
              <a:t>Project schedule</a:t>
            </a:r>
          </a:p>
        </p:txBody>
      </p:sp>
      <p:sp>
        <p:nvSpPr>
          <p:cNvPr id="4" name="Date Placeholder 3">
            <a:extLst>
              <a:ext uri="{FF2B5EF4-FFF2-40B4-BE49-F238E27FC236}">
                <a16:creationId xmlns:a16="http://schemas.microsoft.com/office/drawing/2014/main" id="{3B0872E2-62EF-5ACF-1B44-109DC9C17FE1}"/>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6C8B62BA-811C-785A-30FC-2ECC299D217E}"/>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11</a:t>
            </a:fld>
            <a:endParaRPr lang="en-US" sz="1400">
              <a:latin typeface="Arial Black" panose="020B0A04020102020204" pitchFamily="34" charset="0"/>
            </a:endParaRPr>
          </a:p>
        </p:txBody>
      </p:sp>
      <p:sp>
        <p:nvSpPr>
          <p:cNvPr id="3" name="Rectangle: Rounded Corners 2">
            <a:extLst>
              <a:ext uri="{FF2B5EF4-FFF2-40B4-BE49-F238E27FC236}">
                <a16:creationId xmlns:a16="http://schemas.microsoft.com/office/drawing/2014/main" id="{49817FCF-0935-98D6-EC64-D444FED6660E}"/>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pic>
        <p:nvPicPr>
          <p:cNvPr id="8" name="Picture 7">
            <a:extLst>
              <a:ext uri="{FF2B5EF4-FFF2-40B4-BE49-F238E27FC236}">
                <a16:creationId xmlns:a16="http://schemas.microsoft.com/office/drawing/2014/main" id="{E5DB8746-0D0B-541F-79BA-35BD66D91427}"/>
              </a:ext>
            </a:extLst>
          </p:cNvPr>
          <p:cNvPicPr>
            <a:picLocks noChangeAspect="1"/>
          </p:cNvPicPr>
          <p:nvPr/>
        </p:nvPicPr>
        <p:blipFill>
          <a:blip r:embed="rId2"/>
          <a:stretch>
            <a:fillRect/>
          </a:stretch>
        </p:blipFill>
        <p:spPr>
          <a:xfrm>
            <a:off x="1849314" y="1937525"/>
            <a:ext cx="8751166" cy="3918902"/>
          </a:xfrm>
          <a:prstGeom prst="rect">
            <a:avLst/>
          </a:prstGeom>
        </p:spPr>
      </p:pic>
    </p:spTree>
    <p:extLst>
      <p:ext uri="{BB962C8B-B14F-4D97-AF65-F5344CB8AC3E}">
        <p14:creationId xmlns:p14="http://schemas.microsoft.com/office/powerpoint/2010/main" val="1701239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4F9FB-38A3-7245-64DD-76DF7FCCD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F5495E-5C13-9C84-6F45-6F3356329F60}"/>
              </a:ext>
            </a:extLst>
          </p:cNvPr>
          <p:cNvSpPr>
            <a:spLocks noGrp="1"/>
          </p:cNvSpPr>
          <p:nvPr>
            <p:ph type="title"/>
          </p:nvPr>
        </p:nvSpPr>
        <p:spPr>
          <a:xfrm>
            <a:off x="1141413" y="618518"/>
            <a:ext cx="9905998" cy="974144"/>
          </a:xfrm>
        </p:spPr>
        <p:txBody>
          <a:bodyPr anchor="t">
            <a:normAutofit/>
          </a:bodyPr>
          <a:lstStyle/>
          <a:p>
            <a:pPr algn="ctr"/>
            <a:r>
              <a:rPr lang="en-US" sz="2800" dirty="0">
                <a:latin typeface="Arial Black" panose="020B0A04020102020204" pitchFamily="34" charset="0"/>
              </a:rPr>
              <a:t>Project software development</a:t>
            </a:r>
          </a:p>
        </p:txBody>
      </p:sp>
      <p:sp>
        <p:nvSpPr>
          <p:cNvPr id="4" name="Date Placeholder 3">
            <a:extLst>
              <a:ext uri="{FF2B5EF4-FFF2-40B4-BE49-F238E27FC236}">
                <a16:creationId xmlns:a16="http://schemas.microsoft.com/office/drawing/2014/main" id="{3C2E6236-DDD1-0777-946C-A5D0F50ED4F2}"/>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2C391CB0-6A85-B132-5998-018295A6CD87}"/>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12</a:t>
            </a:fld>
            <a:endParaRPr lang="en-US" sz="1400">
              <a:latin typeface="Arial Black" panose="020B0A04020102020204" pitchFamily="34" charset="0"/>
            </a:endParaRPr>
          </a:p>
        </p:txBody>
      </p:sp>
      <p:sp>
        <p:nvSpPr>
          <p:cNvPr id="7" name="Content Placeholder 2">
            <a:extLst>
              <a:ext uri="{FF2B5EF4-FFF2-40B4-BE49-F238E27FC236}">
                <a16:creationId xmlns:a16="http://schemas.microsoft.com/office/drawing/2014/main" id="{72986284-AA55-4EC2-C226-CA0830087319}"/>
              </a:ext>
            </a:extLst>
          </p:cNvPr>
          <p:cNvSpPr txBox="1">
            <a:spLocks/>
          </p:cNvSpPr>
          <p:nvPr/>
        </p:nvSpPr>
        <p:spPr>
          <a:xfrm>
            <a:off x="1111200" y="1514723"/>
            <a:ext cx="9969600" cy="3914916"/>
          </a:xfrm>
          <a:prstGeom prst="rect">
            <a:avLst/>
          </a:prstGeom>
        </p:spPr>
        <p:txBody>
          <a:bodyPr>
            <a:no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342900" indent="-342900">
              <a:buFont typeface="Wingdings" panose="05000000000000000000" pitchFamily="2" charset="2"/>
              <a:buChar char="Ø"/>
            </a:pPr>
            <a:r>
              <a:rPr lang="en-US" dirty="0">
                <a:solidFill>
                  <a:schemeClr val="tx1"/>
                </a:solidFill>
                <a:latin typeface="Arial Black" panose="020B0A04020102020204" pitchFamily="34" charset="0"/>
              </a:rPr>
              <a:t>Most code will be written in python, HTML for the frontend</a:t>
            </a:r>
          </a:p>
          <a:p>
            <a:pPr marL="342900" indent="-342900">
              <a:buFont typeface="Wingdings" panose="05000000000000000000" pitchFamily="2" charset="2"/>
              <a:buChar char="Ø"/>
            </a:pPr>
            <a:r>
              <a:rPr lang="en-US" dirty="0">
                <a:solidFill>
                  <a:schemeClr val="tx1"/>
                </a:solidFill>
                <a:latin typeface="Arial Black" panose="020B0A04020102020204" pitchFamily="34" charset="0"/>
              </a:rPr>
              <a:t>All the code will be interpreted in CPython 3.12 or newer</a:t>
            </a:r>
          </a:p>
          <a:p>
            <a:pPr marL="342900" indent="-342900">
              <a:buFont typeface="Wingdings" panose="05000000000000000000" pitchFamily="2" charset="2"/>
              <a:buChar char="Ø"/>
            </a:pPr>
            <a:r>
              <a:rPr lang="en-US" dirty="0">
                <a:solidFill>
                  <a:schemeClr val="tx1"/>
                </a:solidFill>
                <a:latin typeface="Arial Black" panose="020B0A04020102020204" pitchFamily="34" charset="0"/>
              </a:rPr>
              <a:t>Leveraging Django as an open-source web framework</a:t>
            </a:r>
          </a:p>
          <a:p>
            <a:pPr marL="342900" indent="-342900">
              <a:buFont typeface="Wingdings" panose="05000000000000000000" pitchFamily="2" charset="2"/>
              <a:buChar char="Ø"/>
            </a:pPr>
            <a:r>
              <a:rPr lang="en-US" dirty="0">
                <a:solidFill>
                  <a:schemeClr val="tx1"/>
                </a:solidFill>
                <a:latin typeface="Arial Black" panose="020B0A04020102020204" pitchFamily="34" charset="0"/>
              </a:rPr>
              <a:t>Leveraging AWS as the underlying infrastructure to host the web application</a:t>
            </a:r>
          </a:p>
        </p:txBody>
      </p:sp>
      <p:sp>
        <p:nvSpPr>
          <p:cNvPr id="3" name="Rectangle: Rounded Corners 2">
            <a:extLst>
              <a:ext uri="{FF2B5EF4-FFF2-40B4-BE49-F238E27FC236}">
                <a16:creationId xmlns:a16="http://schemas.microsoft.com/office/drawing/2014/main" id="{F2EC321D-3F59-6E65-2A59-4CAEB25B36BB}"/>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Tree>
    <p:extLst>
      <p:ext uri="{BB962C8B-B14F-4D97-AF65-F5344CB8AC3E}">
        <p14:creationId xmlns:p14="http://schemas.microsoft.com/office/powerpoint/2010/main" val="1800152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B2E7F-AACA-810A-B1E6-5468F74169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A40CD-1695-F5F4-2F92-F35A6C473368}"/>
              </a:ext>
            </a:extLst>
          </p:cNvPr>
          <p:cNvSpPr>
            <a:spLocks noGrp="1"/>
          </p:cNvSpPr>
          <p:nvPr>
            <p:ph type="title"/>
          </p:nvPr>
        </p:nvSpPr>
        <p:spPr>
          <a:xfrm>
            <a:off x="1141413" y="618518"/>
            <a:ext cx="9905998" cy="974144"/>
          </a:xfrm>
        </p:spPr>
        <p:txBody>
          <a:bodyPr anchor="t">
            <a:normAutofit/>
          </a:bodyPr>
          <a:lstStyle/>
          <a:p>
            <a:pPr algn="ctr"/>
            <a:r>
              <a:rPr lang="en-US" sz="2800" dirty="0">
                <a:latin typeface="Arial Black" panose="020B0A04020102020204" pitchFamily="34" charset="0"/>
              </a:rPr>
              <a:t>Project configuration management</a:t>
            </a:r>
          </a:p>
        </p:txBody>
      </p:sp>
      <p:sp>
        <p:nvSpPr>
          <p:cNvPr id="4" name="Date Placeholder 3">
            <a:extLst>
              <a:ext uri="{FF2B5EF4-FFF2-40B4-BE49-F238E27FC236}">
                <a16:creationId xmlns:a16="http://schemas.microsoft.com/office/drawing/2014/main" id="{60915808-FEC8-3818-AA84-7DB3E1F604AA}"/>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6146BB3E-6BB5-6D13-82FE-4EDBCC9CFE42}"/>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13</a:t>
            </a:fld>
            <a:endParaRPr lang="en-US" sz="1400">
              <a:latin typeface="Arial Black" panose="020B0A04020102020204" pitchFamily="34" charset="0"/>
            </a:endParaRPr>
          </a:p>
        </p:txBody>
      </p:sp>
      <p:sp>
        <p:nvSpPr>
          <p:cNvPr id="10" name="TextBox 9">
            <a:extLst>
              <a:ext uri="{FF2B5EF4-FFF2-40B4-BE49-F238E27FC236}">
                <a16:creationId xmlns:a16="http://schemas.microsoft.com/office/drawing/2014/main" id="{96A45246-9190-CE95-E12B-2D7932B603A4}"/>
              </a:ext>
            </a:extLst>
          </p:cNvPr>
          <p:cNvSpPr txBox="1"/>
          <p:nvPr/>
        </p:nvSpPr>
        <p:spPr>
          <a:xfrm>
            <a:off x="1138703" y="1498414"/>
            <a:ext cx="10029169" cy="2554545"/>
          </a:xfrm>
          <a:prstGeom prst="rect">
            <a:avLst/>
          </a:prstGeom>
          <a:noFill/>
        </p:spPr>
        <p:txBody>
          <a:bodyPr wrap="square" rtlCol="0">
            <a:spAutoFit/>
          </a:bodyPr>
          <a:lstStyle/>
          <a:p>
            <a:pPr marL="342900" indent="-342900">
              <a:spcAft>
                <a:spcPts val="600"/>
              </a:spcAft>
              <a:buFont typeface="Wingdings" panose="05000000000000000000" pitchFamily="2" charset="2"/>
              <a:buChar char="Ø"/>
            </a:pPr>
            <a:r>
              <a:rPr lang="en-GB" sz="2000" dirty="0">
                <a:latin typeface="Arial Black" panose="020B0A04020102020204" pitchFamily="34" charset="0"/>
              </a:rPr>
              <a:t>Leverage GitHub for version control and CI/CD capabilities through GitHub actions</a:t>
            </a:r>
          </a:p>
          <a:p>
            <a:pPr marL="342900" indent="-342900">
              <a:spcAft>
                <a:spcPts val="600"/>
              </a:spcAft>
              <a:buFont typeface="Wingdings" panose="05000000000000000000" pitchFamily="2" charset="2"/>
              <a:buChar char="Ø"/>
            </a:pPr>
            <a:r>
              <a:rPr lang="en-GB" sz="2000" dirty="0">
                <a:latin typeface="Arial Black" panose="020B0A04020102020204" pitchFamily="34" charset="0"/>
              </a:rPr>
              <a:t>Utilize containers within Kubernetes for environment consistency</a:t>
            </a:r>
          </a:p>
          <a:p>
            <a:pPr marL="342900" indent="-342900">
              <a:spcAft>
                <a:spcPts val="600"/>
              </a:spcAft>
              <a:buFont typeface="Wingdings" panose="05000000000000000000" pitchFamily="2" charset="2"/>
              <a:buChar char="Ø"/>
            </a:pPr>
            <a:r>
              <a:rPr lang="en-GB" sz="2000" dirty="0">
                <a:latin typeface="Arial Black" panose="020B0A04020102020204" pitchFamily="34" charset="0"/>
              </a:rPr>
              <a:t>Dependencies for the project will be outlined in requirements files</a:t>
            </a:r>
          </a:p>
          <a:p>
            <a:pPr marL="342900" indent="-342900">
              <a:spcAft>
                <a:spcPts val="600"/>
              </a:spcAft>
              <a:buFont typeface="Wingdings" panose="05000000000000000000" pitchFamily="2" charset="2"/>
              <a:buChar char="Ø"/>
            </a:pPr>
            <a:r>
              <a:rPr lang="en-GB" sz="2000" dirty="0">
                <a:latin typeface="Arial Black" panose="020B0A04020102020204" pitchFamily="34" charset="0"/>
              </a:rPr>
              <a:t>Enforce change control through pull requests withing </a:t>
            </a:r>
            <a:r>
              <a:rPr lang="en-GB" sz="2000" dirty="0" err="1">
                <a:latin typeface="Arial Black" panose="020B0A04020102020204" pitchFamily="34" charset="0"/>
              </a:rPr>
              <a:t>Github</a:t>
            </a:r>
            <a:endParaRPr lang="en-GB" sz="2000" dirty="0">
              <a:latin typeface="Arial Black" panose="020B0A04020102020204" pitchFamily="34" charset="0"/>
            </a:endParaRPr>
          </a:p>
          <a:p>
            <a:pPr marL="342900" indent="-342900">
              <a:spcAft>
                <a:spcPts val="600"/>
              </a:spcAft>
              <a:buFont typeface="Wingdings" panose="05000000000000000000" pitchFamily="2" charset="2"/>
              <a:buChar char="Ø"/>
            </a:pPr>
            <a:r>
              <a:rPr lang="en-GB" sz="2000" dirty="0">
                <a:latin typeface="Arial Black" panose="020B0A04020102020204" pitchFamily="34" charset="0"/>
              </a:rPr>
              <a:t>New functionality added to the project will be created in feature branches and then merged into the main branch</a:t>
            </a:r>
          </a:p>
        </p:txBody>
      </p:sp>
      <p:sp>
        <p:nvSpPr>
          <p:cNvPr id="3" name="Rectangle: Rounded Corners 2">
            <a:extLst>
              <a:ext uri="{FF2B5EF4-FFF2-40B4-BE49-F238E27FC236}">
                <a16:creationId xmlns:a16="http://schemas.microsoft.com/office/drawing/2014/main" id="{A8B8B7C5-025E-3F02-6E27-6940F3F5CAF0}"/>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Tree>
    <p:extLst>
      <p:ext uri="{BB962C8B-B14F-4D97-AF65-F5344CB8AC3E}">
        <p14:creationId xmlns:p14="http://schemas.microsoft.com/office/powerpoint/2010/main" val="3741119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59DFF-4708-EC02-786E-CBEA9CF89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F247B-7BDE-11FD-53F0-10C50242A399}"/>
              </a:ext>
            </a:extLst>
          </p:cNvPr>
          <p:cNvSpPr>
            <a:spLocks noGrp="1"/>
          </p:cNvSpPr>
          <p:nvPr>
            <p:ph type="title"/>
          </p:nvPr>
        </p:nvSpPr>
        <p:spPr>
          <a:xfrm>
            <a:off x="1141413" y="618518"/>
            <a:ext cx="9905998" cy="974144"/>
          </a:xfrm>
        </p:spPr>
        <p:txBody>
          <a:bodyPr anchor="t">
            <a:normAutofit/>
          </a:bodyPr>
          <a:lstStyle/>
          <a:p>
            <a:pPr algn="ctr"/>
            <a:r>
              <a:rPr lang="en-US" sz="2800" dirty="0">
                <a:latin typeface="Arial Black" panose="020B0A04020102020204" pitchFamily="34" charset="0"/>
              </a:rPr>
              <a:t>Project verification</a:t>
            </a:r>
          </a:p>
        </p:txBody>
      </p:sp>
      <p:sp>
        <p:nvSpPr>
          <p:cNvPr id="4" name="Date Placeholder 3">
            <a:extLst>
              <a:ext uri="{FF2B5EF4-FFF2-40B4-BE49-F238E27FC236}">
                <a16:creationId xmlns:a16="http://schemas.microsoft.com/office/drawing/2014/main" id="{3DDEB4C4-9E2F-8E47-8725-770058E97451}"/>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DF28F390-CA00-5168-895D-5982704BE3E8}"/>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14</a:t>
            </a:fld>
            <a:endParaRPr lang="en-US" sz="1400">
              <a:latin typeface="Arial Black" panose="020B0A04020102020204" pitchFamily="34" charset="0"/>
            </a:endParaRPr>
          </a:p>
        </p:txBody>
      </p:sp>
      <p:sp>
        <p:nvSpPr>
          <p:cNvPr id="10" name="TextBox 9">
            <a:extLst>
              <a:ext uri="{FF2B5EF4-FFF2-40B4-BE49-F238E27FC236}">
                <a16:creationId xmlns:a16="http://schemas.microsoft.com/office/drawing/2014/main" id="{12B72CAA-1084-7E84-97FA-DD51D5760CC5}"/>
              </a:ext>
            </a:extLst>
          </p:cNvPr>
          <p:cNvSpPr txBox="1"/>
          <p:nvPr/>
        </p:nvSpPr>
        <p:spPr>
          <a:xfrm>
            <a:off x="1138703" y="1498414"/>
            <a:ext cx="10029169" cy="2169825"/>
          </a:xfrm>
          <a:prstGeom prst="rect">
            <a:avLst/>
          </a:prstGeom>
          <a:noFill/>
        </p:spPr>
        <p:txBody>
          <a:bodyPr wrap="square" rtlCol="0">
            <a:spAutoFit/>
          </a:bodyPr>
          <a:lstStyle/>
          <a:p>
            <a:pPr marL="342900" indent="-342900">
              <a:spcAft>
                <a:spcPts val="600"/>
              </a:spcAft>
              <a:buFont typeface="Wingdings" panose="05000000000000000000" pitchFamily="2" charset="2"/>
              <a:buChar char="Ø"/>
            </a:pPr>
            <a:r>
              <a:rPr lang="en-GB" sz="2000" dirty="0">
                <a:latin typeface="Arial Black" panose="020B0A04020102020204" pitchFamily="34" charset="0"/>
              </a:rPr>
              <a:t>Small unit tests with Django’s built-in test framework</a:t>
            </a:r>
          </a:p>
          <a:p>
            <a:pPr marL="342900" indent="-342900">
              <a:spcAft>
                <a:spcPts val="600"/>
              </a:spcAft>
              <a:buFont typeface="Wingdings" panose="05000000000000000000" pitchFamily="2" charset="2"/>
              <a:buChar char="Ø"/>
            </a:pPr>
            <a:r>
              <a:rPr lang="en-GB" sz="2000" dirty="0">
                <a:latin typeface="Arial Black" panose="020B0A04020102020204" pitchFamily="34" charset="0"/>
              </a:rPr>
              <a:t>Testing in the integrated environment to ensure the system as a whole works</a:t>
            </a:r>
          </a:p>
          <a:p>
            <a:pPr marL="342900" indent="-342900">
              <a:spcAft>
                <a:spcPts val="600"/>
              </a:spcAft>
              <a:buFont typeface="Wingdings" panose="05000000000000000000" pitchFamily="2" charset="2"/>
              <a:buChar char="Ø"/>
            </a:pPr>
            <a:r>
              <a:rPr lang="en-GB" sz="2000" dirty="0">
                <a:latin typeface="Arial Black" panose="020B0A04020102020204" pitchFamily="34" charset="0"/>
              </a:rPr>
              <a:t>Selenium for automated testing to ensure the browser works as expected</a:t>
            </a:r>
          </a:p>
          <a:p>
            <a:pPr marL="342900" indent="-342900">
              <a:spcAft>
                <a:spcPts val="600"/>
              </a:spcAft>
              <a:buFont typeface="Wingdings" panose="05000000000000000000" pitchFamily="2" charset="2"/>
              <a:buChar char="Ø"/>
            </a:pPr>
            <a:r>
              <a:rPr lang="en-GB" sz="2000" dirty="0">
                <a:latin typeface="Arial Black" panose="020B0A04020102020204" pitchFamily="34" charset="0"/>
              </a:rPr>
              <a:t> Manual testing by end user / test team</a:t>
            </a:r>
          </a:p>
        </p:txBody>
      </p:sp>
      <p:sp>
        <p:nvSpPr>
          <p:cNvPr id="3" name="Rectangle: Rounded Corners 2">
            <a:extLst>
              <a:ext uri="{FF2B5EF4-FFF2-40B4-BE49-F238E27FC236}">
                <a16:creationId xmlns:a16="http://schemas.microsoft.com/office/drawing/2014/main" id="{8B0D1951-E446-26C7-7D24-37DA1226500E}"/>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Tree>
    <p:extLst>
      <p:ext uri="{BB962C8B-B14F-4D97-AF65-F5344CB8AC3E}">
        <p14:creationId xmlns:p14="http://schemas.microsoft.com/office/powerpoint/2010/main" val="1721993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FA946-266B-F038-4CED-E306A7DAEB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A50014-2D89-A508-E51C-A5365F3AA278}"/>
              </a:ext>
            </a:extLst>
          </p:cNvPr>
          <p:cNvSpPr>
            <a:spLocks noGrp="1"/>
          </p:cNvSpPr>
          <p:nvPr>
            <p:ph type="title"/>
          </p:nvPr>
        </p:nvSpPr>
        <p:spPr>
          <a:xfrm>
            <a:off x="1141413" y="618518"/>
            <a:ext cx="9905998" cy="974144"/>
          </a:xfrm>
        </p:spPr>
        <p:txBody>
          <a:bodyPr anchor="t">
            <a:normAutofit/>
          </a:bodyPr>
          <a:lstStyle/>
          <a:p>
            <a:pPr algn="ctr"/>
            <a:r>
              <a:rPr lang="en-US" sz="2800" dirty="0">
                <a:latin typeface="Arial Black" panose="020B0A04020102020204" pitchFamily="34" charset="0"/>
              </a:rPr>
              <a:t>Ethics</a:t>
            </a:r>
          </a:p>
        </p:txBody>
      </p:sp>
      <p:sp>
        <p:nvSpPr>
          <p:cNvPr id="4" name="Date Placeholder 3">
            <a:extLst>
              <a:ext uri="{FF2B5EF4-FFF2-40B4-BE49-F238E27FC236}">
                <a16:creationId xmlns:a16="http://schemas.microsoft.com/office/drawing/2014/main" id="{6422B8CD-A3BC-55F2-7042-EE00BDD55F68}"/>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A0EC1B1D-7B4B-AA3D-C6E1-703F8AE69807}"/>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15</a:t>
            </a:fld>
            <a:endParaRPr lang="en-US" sz="1400">
              <a:latin typeface="Arial Black" panose="020B0A04020102020204" pitchFamily="34" charset="0"/>
            </a:endParaRPr>
          </a:p>
        </p:txBody>
      </p:sp>
      <p:sp>
        <p:nvSpPr>
          <p:cNvPr id="3" name="TextBox 2">
            <a:extLst>
              <a:ext uri="{FF2B5EF4-FFF2-40B4-BE49-F238E27FC236}">
                <a16:creationId xmlns:a16="http://schemas.microsoft.com/office/drawing/2014/main" id="{2F92768D-D424-0385-72CD-3EA71ABC4FDF}"/>
              </a:ext>
            </a:extLst>
          </p:cNvPr>
          <p:cNvSpPr txBox="1"/>
          <p:nvPr/>
        </p:nvSpPr>
        <p:spPr>
          <a:xfrm>
            <a:off x="1022466" y="1891696"/>
            <a:ext cx="9942096" cy="1769715"/>
          </a:xfrm>
          <a:prstGeom prst="rect">
            <a:avLst/>
          </a:prstGeom>
          <a:noFill/>
        </p:spPr>
        <p:txBody>
          <a:bodyPr wrap="square" rtlCol="0">
            <a:spAutoFit/>
          </a:bodyPr>
          <a:lstStyle/>
          <a:p>
            <a:pPr marL="342900" indent="-342900">
              <a:spcAft>
                <a:spcPts val="600"/>
              </a:spcAft>
              <a:buFont typeface="Wingdings" panose="05000000000000000000" pitchFamily="2" charset="2"/>
              <a:buChar char="Ø"/>
            </a:pPr>
            <a:r>
              <a:rPr lang="en-US" sz="2000" dirty="0">
                <a:latin typeface="Arial Black" panose="020B0A04020102020204" pitchFamily="34" charset="0"/>
              </a:rPr>
              <a:t>User data privacy</a:t>
            </a:r>
          </a:p>
          <a:p>
            <a:pPr marL="342900" indent="-342900">
              <a:spcAft>
                <a:spcPts val="600"/>
              </a:spcAft>
              <a:buFont typeface="Wingdings" panose="05000000000000000000" pitchFamily="2" charset="2"/>
              <a:buChar char="Ø"/>
            </a:pPr>
            <a:r>
              <a:rPr lang="en-US" sz="2000" dirty="0">
                <a:latin typeface="Arial Black" panose="020B0A04020102020204" pitchFamily="34" charset="0"/>
              </a:rPr>
              <a:t>Implementing best security practices for storing sensitive data</a:t>
            </a:r>
          </a:p>
          <a:p>
            <a:pPr marL="342900" indent="-342900">
              <a:spcAft>
                <a:spcPts val="600"/>
              </a:spcAft>
              <a:buFont typeface="Wingdings" panose="05000000000000000000" pitchFamily="2" charset="2"/>
              <a:buChar char="Ø"/>
            </a:pPr>
            <a:r>
              <a:rPr lang="en-US" sz="2000" dirty="0">
                <a:latin typeface="Arial Black" panose="020B0A04020102020204" pitchFamily="34" charset="0"/>
              </a:rPr>
              <a:t>Ensure good financial advice is presented on the platform</a:t>
            </a:r>
          </a:p>
          <a:p>
            <a:endParaRPr lang="en-GB" sz="2000" dirty="0">
              <a:latin typeface="Arial Black" panose="020B0A04020102020204" pitchFamily="34" charset="0"/>
            </a:endParaRPr>
          </a:p>
          <a:p>
            <a:pPr>
              <a:spcAft>
                <a:spcPts val="600"/>
              </a:spcAft>
            </a:pPr>
            <a:endParaRPr lang="en-US" sz="1400" dirty="0">
              <a:effectLst/>
              <a:latin typeface="Arial Black" panose="020B0A04020102020204" pitchFamily="34" charset="0"/>
              <a:ea typeface="Calibri" panose="020F0502020204030204" pitchFamily="34" charset="0"/>
            </a:endParaRPr>
          </a:p>
        </p:txBody>
      </p:sp>
      <p:sp>
        <p:nvSpPr>
          <p:cNvPr id="8" name="Rectangle: Rounded Corners 7">
            <a:extLst>
              <a:ext uri="{FF2B5EF4-FFF2-40B4-BE49-F238E27FC236}">
                <a16:creationId xmlns:a16="http://schemas.microsoft.com/office/drawing/2014/main" id="{1EF09E1E-0BD8-D58E-6FF0-1E2D0D0EAE0A}"/>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Tree>
    <p:extLst>
      <p:ext uri="{BB962C8B-B14F-4D97-AF65-F5344CB8AC3E}">
        <p14:creationId xmlns:p14="http://schemas.microsoft.com/office/powerpoint/2010/main" val="2356767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2856E-FC70-C22D-9442-5CB43D21D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0F6CA-CAF7-5EF3-5033-4F56E7DDE0BB}"/>
              </a:ext>
            </a:extLst>
          </p:cNvPr>
          <p:cNvSpPr>
            <a:spLocks noGrp="1"/>
          </p:cNvSpPr>
          <p:nvPr>
            <p:ph type="title"/>
          </p:nvPr>
        </p:nvSpPr>
        <p:spPr>
          <a:xfrm>
            <a:off x="659218" y="618518"/>
            <a:ext cx="10994065" cy="974144"/>
          </a:xfrm>
        </p:spPr>
        <p:txBody>
          <a:bodyPr anchor="t">
            <a:normAutofit/>
          </a:bodyPr>
          <a:lstStyle/>
          <a:p>
            <a:pPr algn="ctr"/>
            <a:r>
              <a:rPr lang="en-US" sz="2800" dirty="0">
                <a:latin typeface="Arial Black" panose="020B0A04020102020204" pitchFamily="34" charset="0"/>
              </a:rPr>
              <a:t>RISK MANAGEMENT</a:t>
            </a:r>
          </a:p>
        </p:txBody>
      </p:sp>
      <p:sp>
        <p:nvSpPr>
          <p:cNvPr id="4" name="Date Placeholder 3">
            <a:extLst>
              <a:ext uri="{FF2B5EF4-FFF2-40B4-BE49-F238E27FC236}">
                <a16:creationId xmlns:a16="http://schemas.microsoft.com/office/drawing/2014/main" id="{357FD359-7998-B4D2-AF3B-7C496ED9875C}"/>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0EADF0C9-2C5F-095F-3213-D31651BCA15A}"/>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16</a:t>
            </a:fld>
            <a:endParaRPr lang="en-US" sz="1400">
              <a:latin typeface="Arial Black" panose="020B0A04020102020204" pitchFamily="34" charset="0"/>
            </a:endParaRPr>
          </a:p>
        </p:txBody>
      </p:sp>
      <p:sp>
        <p:nvSpPr>
          <p:cNvPr id="7" name="TextBox 6">
            <a:extLst>
              <a:ext uri="{FF2B5EF4-FFF2-40B4-BE49-F238E27FC236}">
                <a16:creationId xmlns:a16="http://schemas.microsoft.com/office/drawing/2014/main" id="{8432903A-5731-314F-F69A-1DC9F13BE163}"/>
              </a:ext>
            </a:extLst>
          </p:cNvPr>
          <p:cNvSpPr txBox="1"/>
          <p:nvPr/>
        </p:nvSpPr>
        <p:spPr>
          <a:xfrm>
            <a:off x="1040920" y="1488771"/>
            <a:ext cx="10541076" cy="2939266"/>
          </a:xfrm>
          <a:prstGeom prst="rect">
            <a:avLst/>
          </a:prstGeom>
          <a:noFill/>
        </p:spPr>
        <p:txBody>
          <a:bodyPr wrap="square" rtlCol="0">
            <a:spAutoFit/>
          </a:bodyPr>
          <a:lstStyle/>
          <a:p>
            <a:pPr marL="342900" indent="-342900">
              <a:spcAft>
                <a:spcPts val="600"/>
              </a:spcAft>
              <a:buFont typeface="Wingdings" panose="05000000000000000000" pitchFamily="2" charset="2"/>
              <a:buChar char="Ø"/>
            </a:pPr>
            <a:r>
              <a:rPr lang="en-US" sz="2000" dirty="0">
                <a:latin typeface="Arial Black" panose="020B0A04020102020204" pitchFamily="34" charset="0"/>
              </a:rPr>
              <a:t>Someone on the team is sick and cannot make their sprint deadline</a:t>
            </a:r>
          </a:p>
          <a:p>
            <a:pPr marL="800100" lvl="1" indent="-342900">
              <a:spcAft>
                <a:spcPts val="600"/>
              </a:spcAft>
              <a:buFont typeface="Wingdings" panose="05000000000000000000" pitchFamily="2" charset="2"/>
              <a:buChar char="Ø"/>
            </a:pPr>
            <a:r>
              <a:rPr lang="en-US" sz="2000" dirty="0">
                <a:latin typeface="Arial Black" panose="020B0A04020102020204" pitchFamily="34" charset="0"/>
              </a:rPr>
              <a:t>Will handle this by flexing someone else on the team to make up their work</a:t>
            </a:r>
          </a:p>
          <a:p>
            <a:pPr marL="342900" indent="-342900">
              <a:spcAft>
                <a:spcPts val="600"/>
              </a:spcAft>
              <a:buFont typeface="Wingdings" panose="05000000000000000000" pitchFamily="2" charset="2"/>
              <a:buChar char="Ø"/>
            </a:pPr>
            <a:r>
              <a:rPr lang="en-US" sz="2000" dirty="0">
                <a:latin typeface="Arial Black" panose="020B0A04020102020204" pitchFamily="34" charset="0"/>
              </a:rPr>
              <a:t>Data privacy and security risks</a:t>
            </a:r>
          </a:p>
          <a:p>
            <a:pPr marL="800100" lvl="1" indent="-342900">
              <a:spcAft>
                <a:spcPts val="600"/>
              </a:spcAft>
              <a:buFont typeface="Wingdings" panose="05000000000000000000" pitchFamily="2" charset="2"/>
              <a:buChar char="Ø"/>
            </a:pPr>
            <a:r>
              <a:rPr lang="en-US" sz="2000" dirty="0">
                <a:latin typeface="Arial Black" panose="020B0A04020102020204" pitchFamily="34" charset="0"/>
              </a:rPr>
              <a:t>Will use strong encryption algorithms and secure authentication</a:t>
            </a:r>
          </a:p>
          <a:p>
            <a:pPr marL="342900" indent="-342900">
              <a:spcAft>
                <a:spcPts val="600"/>
              </a:spcAft>
              <a:buFont typeface="Wingdings" panose="05000000000000000000" pitchFamily="2" charset="2"/>
              <a:buChar char="Ø"/>
            </a:pPr>
            <a:r>
              <a:rPr lang="en-US" sz="2000" dirty="0">
                <a:latin typeface="Arial Black" panose="020B0A04020102020204" pitchFamily="34" charset="0"/>
              </a:rPr>
              <a:t>Technical and operational risks, downtime</a:t>
            </a:r>
          </a:p>
          <a:p>
            <a:pPr marL="800100" lvl="1" indent="-342900">
              <a:spcAft>
                <a:spcPts val="600"/>
              </a:spcAft>
              <a:buFont typeface="Wingdings" panose="05000000000000000000" pitchFamily="2" charset="2"/>
              <a:buChar char="Ø"/>
            </a:pPr>
            <a:r>
              <a:rPr lang="en-US" sz="2000" dirty="0">
                <a:latin typeface="Arial Black" panose="020B0A04020102020204" pitchFamily="34" charset="0"/>
              </a:rPr>
              <a:t>Will implement failover in the platform engineering and horizontal autoscaling in order to compete with potential demand</a:t>
            </a:r>
          </a:p>
        </p:txBody>
      </p:sp>
      <p:sp>
        <p:nvSpPr>
          <p:cNvPr id="3" name="Rectangle: Rounded Corners 2">
            <a:extLst>
              <a:ext uri="{FF2B5EF4-FFF2-40B4-BE49-F238E27FC236}">
                <a16:creationId xmlns:a16="http://schemas.microsoft.com/office/drawing/2014/main" id="{D9578949-98AA-F97D-E493-6A58AF17A804}"/>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Tree>
    <p:extLst>
      <p:ext uri="{BB962C8B-B14F-4D97-AF65-F5344CB8AC3E}">
        <p14:creationId xmlns:p14="http://schemas.microsoft.com/office/powerpoint/2010/main" val="3978974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FFE7D-153E-24E8-E3D7-85A2F62BA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91E717-CD42-0800-3661-C2B9F2DB201C}"/>
              </a:ext>
            </a:extLst>
          </p:cNvPr>
          <p:cNvSpPr>
            <a:spLocks noGrp="1"/>
          </p:cNvSpPr>
          <p:nvPr>
            <p:ph type="title"/>
          </p:nvPr>
        </p:nvSpPr>
        <p:spPr>
          <a:xfrm>
            <a:off x="1141413" y="618518"/>
            <a:ext cx="9905998" cy="974144"/>
          </a:xfrm>
        </p:spPr>
        <p:txBody>
          <a:bodyPr anchor="t">
            <a:normAutofit/>
          </a:bodyPr>
          <a:lstStyle/>
          <a:p>
            <a:pPr algn="ctr"/>
            <a:r>
              <a:rPr lang="en-US" sz="2800" dirty="0">
                <a:latin typeface="Arial Black" panose="020B0A04020102020204" pitchFamily="34" charset="0"/>
              </a:rPr>
              <a:t>Project completion</a:t>
            </a:r>
          </a:p>
        </p:txBody>
      </p:sp>
      <p:sp>
        <p:nvSpPr>
          <p:cNvPr id="4" name="Date Placeholder 3">
            <a:extLst>
              <a:ext uri="{FF2B5EF4-FFF2-40B4-BE49-F238E27FC236}">
                <a16:creationId xmlns:a16="http://schemas.microsoft.com/office/drawing/2014/main" id="{9CA4A712-D368-5DDC-3F63-9AC496E6972B}"/>
              </a:ext>
            </a:extLst>
          </p:cNvPr>
          <p:cNvSpPr>
            <a:spLocks noGrp="1"/>
          </p:cNvSpPr>
          <p:nvPr>
            <p:ph type="dt" sz="half" idx="10"/>
          </p:nvPr>
        </p:nvSpPr>
        <p:spPr>
          <a:xfrm>
            <a:off x="1138704" y="5883276"/>
            <a:ext cx="2634807" cy="365125"/>
          </a:xfrm>
        </p:spPr>
        <p:txBody>
          <a:bodyPr/>
          <a:lstStyle/>
          <a:p>
            <a:pPr algn="l"/>
            <a:r>
              <a:rPr lang="en-US" sz="1400">
                <a:latin typeface="Arial Black" panose="020B0A04020102020204" pitchFamily="34" charset="0"/>
              </a:rPr>
              <a:t>&lt;date&gt;</a:t>
            </a:r>
            <a:endParaRPr lang="en-US" sz="1400" dirty="0">
              <a:latin typeface="Arial Black" panose="020B0A04020102020204" pitchFamily="34" charset="0"/>
            </a:endParaRPr>
          </a:p>
        </p:txBody>
      </p:sp>
      <p:sp>
        <p:nvSpPr>
          <p:cNvPr id="6" name="Slide Number Placeholder 5">
            <a:extLst>
              <a:ext uri="{FF2B5EF4-FFF2-40B4-BE49-F238E27FC236}">
                <a16:creationId xmlns:a16="http://schemas.microsoft.com/office/drawing/2014/main" id="{6CB1CED6-4982-272C-54CD-4FBD99A1C591}"/>
              </a:ext>
            </a:extLst>
          </p:cNvPr>
          <p:cNvSpPr>
            <a:spLocks noGrp="1"/>
          </p:cNvSpPr>
          <p:nvPr>
            <p:ph type="sldNum" sz="quarter" idx="12"/>
          </p:nvPr>
        </p:nvSpPr>
        <p:spPr>
          <a:xfrm>
            <a:off x="9856561" y="5883274"/>
            <a:ext cx="1224239" cy="365125"/>
          </a:xfrm>
        </p:spPr>
        <p:txBody>
          <a:bodyPr/>
          <a:lstStyle/>
          <a:p>
            <a:fld id="{EB2EDA97-367B-4B91-ABE6-82E571A82057}" type="slidenum">
              <a:rPr lang="en-US" sz="1400" smtClean="0">
                <a:latin typeface="Arial Black" panose="020B0A04020102020204" pitchFamily="34" charset="0"/>
              </a:rPr>
              <a:pPr/>
              <a:t>17</a:t>
            </a:fld>
            <a:endParaRPr lang="en-US" sz="1400">
              <a:latin typeface="Arial Black" panose="020B0A04020102020204" pitchFamily="34" charset="0"/>
            </a:endParaRPr>
          </a:p>
        </p:txBody>
      </p:sp>
      <p:sp>
        <p:nvSpPr>
          <p:cNvPr id="8" name="Rectangle: Rounded Corners 7">
            <a:extLst>
              <a:ext uri="{FF2B5EF4-FFF2-40B4-BE49-F238E27FC236}">
                <a16:creationId xmlns:a16="http://schemas.microsoft.com/office/drawing/2014/main" id="{B52DBBE8-A0EC-45D7-C568-E56951E31FC6}"/>
              </a:ext>
            </a:extLst>
          </p:cNvPr>
          <p:cNvSpPr/>
          <p:nvPr/>
        </p:nvSpPr>
        <p:spPr>
          <a:xfrm>
            <a:off x="4788131" y="6201290"/>
            <a:ext cx="4721629" cy="5951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Black" panose="020B0A04020102020204" pitchFamily="34" charset="0"/>
              </a:rPr>
              <a:t>Chart Briefer’s Name</a:t>
            </a:r>
          </a:p>
        </p:txBody>
      </p:sp>
      <p:sp>
        <p:nvSpPr>
          <p:cNvPr id="3" name="TextBox 2">
            <a:extLst>
              <a:ext uri="{FF2B5EF4-FFF2-40B4-BE49-F238E27FC236}">
                <a16:creationId xmlns:a16="http://schemas.microsoft.com/office/drawing/2014/main" id="{5DE90FDA-AFF3-AC67-CBEB-19B5BA1D3ECA}"/>
              </a:ext>
            </a:extLst>
          </p:cNvPr>
          <p:cNvSpPr txBox="1"/>
          <p:nvPr/>
        </p:nvSpPr>
        <p:spPr>
          <a:xfrm>
            <a:off x="1040920" y="1498232"/>
            <a:ext cx="10110160" cy="216982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spcAft>
                <a:spcPts val="600"/>
              </a:spcAft>
              <a:buFont typeface="Wingdings" panose="05000000000000000000" pitchFamily="2" charset="2"/>
              <a:buChar char="Ø"/>
            </a:pPr>
            <a:r>
              <a:rPr lang="en-US" sz="2000" dirty="0">
                <a:latin typeface="Arial Black" panose="020B0A04020102020204" pitchFamily="34" charset="0"/>
              </a:rPr>
              <a:t>The final product will be a website with an intuitive interface that makes up for some pitfalls of other money management applications on the market today</a:t>
            </a:r>
          </a:p>
          <a:p>
            <a:pPr marL="342900" indent="-342900">
              <a:spcAft>
                <a:spcPts val="600"/>
              </a:spcAft>
              <a:buFont typeface="Wingdings" panose="05000000000000000000" pitchFamily="2" charset="2"/>
              <a:buChar char="Ø"/>
            </a:pPr>
            <a:endParaRPr lang="en-US" sz="2000" dirty="0">
              <a:latin typeface="Arial Black" panose="020B0A04020102020204" pitchFamily="34" charset="0"/>
            </a:endParaRPr>
          </a:p>
          <a:p>
            <a:pPr marL="342900" indent="-342900">
              <a:spcAft>
                <a:spcPts val="600"/>
              </a:spcAft>
              <a:buFont typeface="Wingdings" panose="05000000000000000000" pitchFamily="2" charset="2"/>
              <a:buChar char="Ø"/>
            </a:pPr>
            <a:endParaRPr lang="en-US" sz="2000" dirty="0">
              <a:latin typeface="Arial Black" panose="020B0A04020102020204" pitchFamily="34" charset="0"/>
            </a:endParaRPr>
          </a:p>
          <a:p>
            <a:pPr marL="342900" indent="-342900">
              <a:spcAft>
                <a:spcPts val="600"/>
              </a:spcAft>
              <a:buFont typeface="Wingdings" panose="05000000000000000000" pitchFamily="2" charset="2"/>
              <a:buChar char="Ø"/>
            </a:pPr>
            <a:r>
              <a:rPr lang="en-US" sz="2000" dirty="0">
                <a:latin typeface="Arial Black" panose="020B0A04020102020204" pitchFamily="34" charset="0"/>
              </a:rPr>
              <a:t>QUESTIONS?</a:t>
            </a:r>
            <a:endParaRPr lang="en-GB" sz="2000" dirty="0">
              <a:latin typeface="Arial Black" panose="020B0A04020102020204" pitchFamily="34" charset="0"/>
            </a:endParaRPr>
          </a:p>
        </p:txBody>
      </p:sp>
    </p:spTree>
    <p:extLst>
      <p:ext uri="{BB962C8B-B14F-4D97-AF65-F5344CB8AC3E}">
        <p14:creationId xmlns:p14="http://schemas.microsoft.com/office/powerpoint/2010/main" val="1151536177"/>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1210</TotalTime>
  <Words>910</Words>
  <Application>Microsoft Office PowerPoint</Application>
  <PresentationFormat>Widescreen</PresentationFormat>
  <Paragraphs>133</Paragraphs>
  <Slides>17</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Aptos</vt:lpstr>
      <vt:lpstr>Arial</vt:lpstr>
      <vt:lpstr>Arial Black</vt:lpstr>
      <vt:lpstr>Tw Cen MT</vt:lpstr>
      <vt:lpstr>Wingdings</vt:lpstr>
      <vt:lpstr>Office Theme</vt:lpstr>
      <vt:lpstr>Circuit</vt:lpstr>
      <vt:lpstr>CS 3300:  Mid-term project presentation Software development Plan (SDP) briefing</vt:lpstr>
      <vt:lpstr>team</vt:lpstr>
      <vt:lpstr>Project introduction</vt:lpstr>
      <vt:lpstr>Problem statement</vt:lpstr>
      <vt:lpstr>Software engineering principles</vt:lpstr>
      <vt:lpstr>Software engineering Tools</vt:lpstr>
      <vt:lpstr>Project architecture diagram</vt:lpstr>
      <vt:lpstr>Project Software design diagram</vt:lpstr>
      <vt:lpstr>Project Perspective model diagram</vt:lpstr>
      <vt:lpstr>Project requirements</vt:lpstr>
      <vt:lpstr>Project schedule</vt:lpstr>
      <vt:lpstr>Project software development</vt:lpstr>
      <vt:lpstr>Project configuration management</vt:lpstr>
      <vt:lpstr>Project verification</vt:lpstr>
      <vt:lpstr>Ethics</vt:lpstr>
      <vt:lpstr>RISK MANAGEMENT</vt:lpstr>
      <vt:lpstr>Project completion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Kathleen</dc:creator>
  <cp:lastModifiedBy>Joe Weibel</cp:lastModifiedBy>
  <cp:revision>72</cp:revision>
  <cp:lastPrinted>2025-09-05T21:08:57Z</cp:lastPrinted>
  <dcterms:created xsi:type="dcterms:W3CDTF">2025-07-27T19:54:53Z</dcterms:created>
  <dcterms:modified xsi:type="dcterms:W3CDTF">2025-09-21T21:01:02Z</dcterms:modified>
</cp:coreProperties>
</file>